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201168"/>
            <a:ext cx="11338560" cy="868680"/>
          </a:xfrm>
          <a:prstGeom prst="rect">
            <a:avLst/>
          </a:prstGeom>
          <a:solidFill>
            <a:srgbClr val="F8D8D2"/>
          </a:solidFill>
          <a:ln w="12700">
            <a:solidFill>
              <a:srgbClr val="F8D8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4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058400" y="475488"/>
            <a:ext cx="219456" cy="219456"/>
          </a:xfrm>
          <a:prstGeom prst="ellipse">
            <a:avLst/>
          </a:prstGeom>
          <a:solidFill>
            <a:srgbClr val="FF1B0C"/>
          </a:solidFill>
          <a:ln w="12700">
            <a:solidFill>
              <a:srgbClr val="FF1B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97312" y="475488"/>
            <a:ext cx="219456" cy="219456"/>
          </a:xfrm>
          <a:prstGeom prst="ellipse">
            <a:avLst/>
          </a:prstGeom>
          <a:solidFill>
            <a:srgbClr val="FFC21A"/>
          </a:solidFill>
          <a:ln w="12700">
            <a:solidFill>
              <a:srgbClr val="FFC2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36224" y="475488"/>
            <a:ext cx="219456" cy="219456"/>
          </a:xfrm>
          <a:prstGeom prst="ellipse">
            <a:avLst/>
          </a:prstGeom>
          <a:solidFill>
            <a:srgbClr val="00BE57"/>
          </a:solidFill>
          <a:ln w="12700">
            <a:solidFill>
              <a:srgbClr val="00BE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" y="1069848"/>
            <a:ext cx="7726680" cy="5285232"/>
          </a:xfrm>
          <a:prstGeom prst="rect">
            <a:avLst/>
          </a:prstGeom>
          <a:solidFill>
            <a:srgbClr val="FFD08B"/>
          </a:solidFill>
          <a:ln w="12700">
            <a:solidFill>
              <a:srgbClr val="FFD0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54696" y="1069848"/>
            <a:ext cx="3611880" cy="5285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914400"/>
            <a:ext cx="1920240" cy="5120640"/>
          </a:xfrm>
          <a:prstGeom prst="ellipse">
            <a:avLst/>
          </a:prstGeom>
          <a:solidFill>
            <a:srgbClr val="F6BB7B">
              <a:alpha val="28000"/>
            </a:srgbClr>
          </a:solidFill>
          <a:ln w="12700">
            <a:solidFill>
              <a:srgbClr val="F6BB7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51560"/>
            <a:ext cx="2377440" cy="4480560"/>
          </a:xfrm>
          <a:prstGeom prst="ellipse">
            <a:avLst/>
          </a:prstGeom>
          <a:solidFill>
            <a:srgbClr val="F0A55D">
              <a:alpha val="22000"/>
            </a:srgbClr>
          </a:solidFill>
          <a:ln w="12700">
            <a:solidFill>
              <a:srgbClr val="F0A55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868680"/>
            <a:ext cx="3474720" cy="5486400"/>
          </a:xfrm>
          <a:prstGeom prst="ellipse">
            <a:avLst/>
          </a:prstGeom>
          <a:solidFill>
            <a:srgbClr val="FFE7C7">
              <a:alpha val="24000"/>
            </a:srgbClr>
          </a:solidFill>
          <a:ln w="12700">
            <a:solidFill>
              <a:srgbClr val="FFE7C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34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D77D4B">
                    <a:alpha val="72000"/>
                  </a:srgbClr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mind compass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3154680" y="1783080"/>
            <a:ext cx="1874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A8A1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9293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 아키텍처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3794760"/>
            <a:ext cx="16916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970">
            <a:solidFill>
              <a:srgbClr val="D4C7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848" y="3630168"/>
            <a:ext cx="512064" cy="310896"/>
          </a:xfrm>
          <a:prstGeom prst="roundRect">
            <a:avLst>
              <a:gd name="adj" fmla="val 14706"/>
            </a:avLst>
          </a:prstGeom>
          <a:solidFill>
            <a:srgbClr val="F7F7F7">
              <a:alpha val="85000"/>
            </a:srgbClr>
          </a:solidFill>
          <a:ln w="12700">
            <a:solidFill>
              <a:srgbClr val="A8A1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66674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[아이콘]</a:t>
            </a:r>
            <a:endParaRPr lang="en-US" sz="660" dirty="0"/>
          </a:p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749808" y="40507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App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20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/ Android 대응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20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요청 시작점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2468880" y="4041648"/>
            <a:ext cx="4572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D4C7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32888" y="4096512"/>
            <a:ext cx="329184" cy="219456"/>
          </a:xfrm>
          <a:prstGeom prst="roundRect">
            <a:avLst>
              <a:gd name="adj" fmla="val 20833"/>
            </a:avLst>
          </a:prstGeom>
          <a:solidFill>
            <a:srgbClr val="F7F7F7">
              <a:alpha val="85000"/>
            </a:srgbClr>
          </a:solidFill>
          <a:ln w="12700">
            <a:solidFill>
              <a:srgbClr val="A8A1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4133088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[아이콘]</a:t>
            </a:r>
            <a:endParaRPr lang="en-US" sz="660" dirty="0"/>
          </a:p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3246120" y="2907792"/>
            <a:ext cx="3950208" cy="2999232"/>
          </a:xfrm>
          <a:prstGeom prst="roundRect">
            <a:avLst>
              <a:gd name="adj" fmla="val 2439"/>
            </a:avLst>
          </a:prstGeom>
          <a:solidFill>
            <a:srgbClr val="F8F8F8"/>
          </a:solidFill>
          <a:ln w="13970">
            <a:solidFill>
              <a:srgbClr val="A8A1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85232" y="2560320"/>
            <a:ext cx="950976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A8A1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267004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566160" y="3182112"/>
            <a:ext cx="2084832" cy="2542032"/>
          </a:xfrm>
          <a:prstGeom prst="roundRect">
            <a:avLst>
              <a:gd name="adj" fmla="val 3509"/>
            </a:avLst>
          </a:prstGeom>
          <a:solidFill>
            <a:srgbClr val="F5F7FB"/>
          </a:solidFill>
          <a:ln w="13970">
            <a:solidFill>
              <a:srgbClr val="D4C7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12464" y="329184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F7F7F7">
              <a:alpha val="85000"/>
            </a:srgbClr>
          </a:solidFill>
          <a:ln w="12700">
            <a:solidFill>
              <a:srgbClr val="A8A1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58184" y="332841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[아이콘]</a:t>
            </a:r>
            <a:endParaRPr lang="en-US" sz="660" dirty="0"/>
          </a:p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57600" y="36393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0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public API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3749040" y="4160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/ User / Diary / Calendar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/ Report / persistence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3794760" y="4754880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F7F7F7">
              <a:alpha val="85000"/>
            </a:srgbClr>
          </a:solidFill>
          <a:ln w="12700">
            <a:solidFill>
              <a:srgbClr val="A8A1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4791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[아이콘]</a:t>
            </a:r>
            <a:endParaRPr lang="en-US" sz="660" dirty="0"/>
          </a:p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4791456" y="4754880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F7F7F7">
              <a:alpha val="85000"/>
            </a:srgbClr>
          </a:solidFill>
          <a:ln w="12700">
            <a:solidFill>
              <a:srgbClr val="A8A1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37176" y="4791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[아이콘]</a:t>
            </a:r>
            <a:endParaRPr lang="en-US" sz="660" dirty="0"/>
          </a:p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4297680" y="5340096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F7F7F7">
              <a:alpha val="85000"/>
            </a:srgbClr>
          </a:solidFill>
          <a:ln w="12700">
            <a:solidFill>
              <a:srgbClr val="A8A1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53766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[아이콘]</a:t>
            </a:r>
            <a:endParaRPr lang="en-US" sz="660" dirty="0"/>
          </a:p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DB/Repo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5806440" y="3429000"/>
            <a:ext cx="1060704" cy="1463040"/>
          </a:xfrm>
          <a:prstGeom prst="roundRect">
            <a:avLst>
              <a:gd name="adj" fmla="val 6897"/>
            </a:avLst>
          </a:prstGeom>
          <a:solidFill>
            <a:srgbClr val="E3F4EF"/>
          </a:solidFill>
          <a:ln w="13970">
            <a:solidFill>
              <a:srgbClr val="D4C7B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07608" y="3273552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7F7F7">
              <a:alpha val="85000"/>
            </a:srgbClr>
          </a:solidFill>
          <a:ln w="12700">
            <a:solidFill>
              <a:srgbClr val="A8A1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53328" y="331012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[아이콘]</a:t>
            </a:r>
            <a:endParaRPr lang="en-US" sz="660" dirty="0"/>
          </a:p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</a:t>
            </a:r>
            <a:endParaRPr lang="en-US" sz="660" dirty="0"/>
          </a:p>
        </p:txBody>
      </p:sp>
      <p:sp>
        <p:nvSpPr>
          <p:cNvPr id="39" name="Text 37"/>
          <p:cNvSpPr/>
          <p:nvPr/>
        </p:nvSpPr>
        <p:spPr>
          <a:xfrm>
            <a:off x="5925312" y="37124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AI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897880" y="408736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analyze-diary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risk-score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generate-reply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5806440" y="5138928"/>
            <a:ext cx="1060704" cy="530352"/>
          </a:xfrm>
          <a:prstGeom prst="roundRect">
            <a:avLst>
              <a:gd name="adj" fmla="val 13793"/>
            </a:avLst>
          </a:prstGeom>
          <a:solidFill>
            <a:srgbClr val="FCEAC8"/>
          </a:solidFill>
          <a:ln w="13970">
            <a:solidFill>
              <a:srgbClr val="D4C7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52852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0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ai-api-fastapi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202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비교/실험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6355080" y="3182112"/>
            <a:ext cx="6400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970">
            <a:solidFill>
              <a:srgbClr val="D4C7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28816" y="325526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27648" y="3566160"/>
            <a:ext cx="658368" cy="1005840"/>
          </a:xfrm>
          <a:prstGeom prst="roundRect">
            <a:avLst>
              <a:gd name="adj" fmla="val 11111"/>
            </a:avLst>
          </a:prstGeom>
          <a:solidFill>
            <a:srgbClr val="FFF5EA"/>
          </a:solidFill>
          <a:ln w="13970">
            <a:solidFill>
              <a:srgbClr val="D4C7B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19088" y="3675888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F7F7F7">
              <a:alpha val="85000"/>
            </a:srgbClr>
          </a:solidFill>
          <a:ln w="12700">
            <a:solidFill>
              <a:srgbClr val="A8A1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64808" y="371246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[아이콘]</a:t>
            </a:r>
            <a:endParaRPr lang="en-US" sz="660" dirty="0"/>
          </a:p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6419088" y="4059936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DB</a:t>
            </a:r>
            <a:endParaRPr lang="en-US" sz="710" dirty="0"/>
          </a:p>
          <a:p>
            <a:pPr algn="ctr" indent="0" marL="0">
              <a:buNone/>
            </a:pPr>
            <a:r>
              <a:rPr lang="en-US" sz="71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사용자/일기/채팅 저장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6327648" y="4681728"/>
            <a:ext cx="658368" cy="914400"/>
          </a:xfrm>
          <a:prstGeom prst="roundRect">
            <a:avLst>
              <a:gd name="adj" fmla="val 11111"/>
            </a:avLst>
          </a:prstGeom>
          <a:solidFill>
            <a:srgbClr val="F4FBF7"/>
          </a:solidFill>
          <a:ln w="13970">
            <a:solidFill>
              <a:srgbClr val="D4C7B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19088" y="4773168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F7F7F7">
              <a:alpha val="85000"/>
            </a:srgbClr>
          </a:solidFill>
          <a:ln w="12700">
            <a:solidFill>
              <a:srgbClr val="A8A1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64808" y="480974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[아이콘]</a:t>
            </a:r>
            <a:endParaRPr lang="en-US" sz="660" dirty="0"/>
          </a:p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pgvector/RAG</a:t>
            </a:r>
            <a:endParaRPr lang="en-US" sz="660" dirty="0"/>
          </a:p>
        </p:txBody>
      </p:sp>
      <p:sp>
        <p:nvSpPr>
          <p:cNvPr id="52" name="Text 50"/>
          <p:cNvSpPr/>
          <p:nvPr/>
        </p:nvSpPr>
        <p:spPr>
          <a:xfrm>
            <a:off x="6400800" y="5157216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 / retrieval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위치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206240" y="54864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3970">
            <a:solidFill>
              <a:srgbClr val="D4C7B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45152" y="5650992"/>
            <a:ext cx="438912" cy="256032"/>
          </a:xfrm>
          <a:prstGeom prst="roundRect">
            <a:avLst>
              <a:gd name="adj" fmla="val 17857"/>
            </a:avLst>
          </a:prstGeom>
          <a:solidFill>
            <a:srgbClr val="F7F7F7">
              <a:alpha val="85000"/>
            </a:srgbClr>
          </a:solidFill>
          <a:ln w="12700">
            <a:solidFill>
              <a:srgbClr val="A8A1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90872" y="56875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[아이콘]</a:t>
            </a:r>
            <a:endParaRPr lang="en-US" sz="660" dirty="0"/>
          </a:p>
          <a:p>
            <a:pPr algn="ctr" indent="0" marL="0">
              <a:buNone/>
            </a:pPr>
            <a:r>
              <a:rPr lang="en-US" sz="6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</a:t>
            </a:r>
            <a:endParaRPr lang="en-US" sz="660" dirty="0"/>
          </a:p>
        </p:txBody>
      </p:sp>
      <p:sp>
        <p:nvSpPr>
          <p:cNvPr id="56" name="Text 54"/>
          <p:cNvSpPr/>
          <p:nvPr/>
        </p:nvSpPr>
        <p:spPr>
          <a:xfrm>
            <a:off x="4443984" y="5989320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LLM</a:t>
            </a:r>
            <a:endParaRPr lang="en-US" sz="880" dirty="0"/>
          </a:p>
        </p:txBody>
      </p:sp>
      <p:sp>
        <p:nvSpPr>
          <p:cNvPr id="57" name="Text 55"/>
          <p:cNvSpPr/>
          <p:nvPr/>
        </p:nvSpPr>
        <p:spPr>
          <a:xfrm>
            <a:off x="2267712" y="4261104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67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2221992" y="411480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토큰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926080" y="42611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67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2880360" y="411480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650992" y="4133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67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605272" y="398678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호출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309360" y="3968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67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263640" y="3822192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291072" y="457200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67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6245352" y="442569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983480" y="5138928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67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937760" y="499262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229600" y="12984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 아키텍처</a:t>
            </a:r>
            <a:endParaRPr lang="en-US" sz="2800" dirty="0"/>
          </a:p>
        </p:txBody>
      </p:sp>
      <p:sp>
        <p:nvSpPr>
          <p:cNvPr id="70" name="Text 68"/>
          <p:cNvSpPr/>
          <p:nvPr/>
        </p:nvSpPr>
        <p:spPr>
          <a:xfrm>
            <a:off x="8247888" y="1874520"/>
            <a:ext cx="281635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18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앱은 backend-api만 호출하고, 공개 API 진입점은 Spring Boot가 담당합니다.</a:t>
            </a:r>
            <a:endParaRPr lang="en-US" sz="1180" dirty="0"/>
          </a:p>
          <a:p>
            <a:pPr marL="203200" indent="-203200">
              <a:buSzPct val="100000"/>
              <a:buChar char="•"/>
            </a:pPr>
            <a:r>
              <a:rPr lang="en-US" sz="118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backend-api는 인증, diary, calendar, chat, report와 같은 비즈니스 흐름과 저장 책임을 가집니다.</a:t>
            </a:r>
            <a:endParaRPr lang="en-US" sz="1180" dirty="0"/>
          </a:p>
          <a:p>
            <a:pPr marL="203200" indent="-203200">
              <a:buSzPct val="100000"/>
              <a:buChar char="•"/>
            </a:pPr>
            <a:r>
              <a:rPr lang="en-US" sz="118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ai-api는 analyze-diary, risk-score, generate-reply를 처리하는 내부 AI orchestration 서버입니다.</a:t>
            </a:r>
            <a:endParaRPr lang="en-US" sz="1180" dirty="0"/>
          </a:p>
          <a:p>
            <a:pPr marL="203200" indent="-203200">
              <a:buSzPct val="100000"/>
              <a:buChar char="•"/>
            </a:pPr>
            <a:r>
              <a:rPr lang="en-US" sz="118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ai-api-fastapi는 비교/실험 서버로 유지하고, RAG·vector 검색은 이후 확장 포인트로 설계합니다.</a:t>
            </a:r>
            <a:endParaRPr lang="en-US" sz="1180" dirty="0"/>
          </a:p>
        </p:txBody>
      </p:sp>
      <p:sp>
        <p:nvSpPr>
          <p:cNvPr id="71" name="Text 69"/>
          <p:cNvSpPr/>
          <p:nvPr/>
        </p:nvSpPr>
        <p:spPr>
          <a:xfrm>
            <a:off x="8257032" y="52120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B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 교체 가이드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247888" y="5468112"/>
            <a:ext cx="28163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9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앱: 좌측 첫 카드의 [아이콘] 박스</a:t>
            </a:r>
            <a:endParaRPr lang="en-US" sz="960" dirty="0"/>
          </a:p>
          <a:p>
            <a:pPr marL="203200" indent="-203200">
              <a:buSzPct val="100000"/>
              <a:buChar char="•"/>
            </a:pPr>
            <a:r>
              <a:rPr lang="en-US" sz="9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backend-api: 중앙 큰 카드 내부 상단 [Spring]</a:t>
            </a:r>
            <a:endParaRPr lang="en-US" sz="960" dirty="0"/>
          </a:p>
          <a:p>
            <a:pPr marL="203200" indent="-203200">
              <a:buSzPct val="100000"/>
              <a:buChar char="•"/>
            </a:pPr>
            <a:r>
              <a:rPr lang="en-US" sz="9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ai-api: 중앙 우측 세로 카드의 [ai-api]</a:t>
            </a:r>
            <a:endParaRPr lang="en-US" sz="960" dirty="0"/>
          </a:p>
          <a:p>
            <a:pPr marL="203200" indent="-203200">
              <a:buSzPct val="100000"/>
              <a:buChar char="•"/>
            </a:pPr>
            <a:r>
              <a:rPr lang="en-US" sz="9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/ vector: 우측 저장 카드의 [PostgreSQL], [pgvector/RAG]</a:t>
            </a:r>
            <a:endParaRPr lang="en-US" sz="960" dirty="0"/>
          </a:p>
          <a:p>
            <a:pPr marL="203200" indent="-203200">
              <a:buSzPct val="100000"/>
              <a:buChar char="•"/>
            </a:pPr>
            <a:r>
              <a:rPr lang="en-US" sz="960" dirty="0">
                <a:solidFill>
                  <a:srgbClr val="4348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OpenAI: 하단 외부 LLM 카드의 [OpenAI]</a:t>
            </a:r>
            <a:endParaRPr lang="en-US" sz="960" dirty="0"/>
          </a:p>
        </p:txBody>
      </p:sp>
      <p:sp>
        <p:nvSpPr>
          <p:cNvPr id="73" name="Text 71"/>
          <p:cNvSpPr/>
          <p:nvPr/>
        </p:nvSpPr>
        <p:spPr>
          <a:xfrm>
            <a:off x="384048" y="6565392"/>
            <a:ext cx="3291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57E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 Compass | reference-style architecture draft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Mind Compass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 Compass AI Server Architecture</dc:title>
  <dc:subject>ai-api reference style system architecture</dc:subject>
  <dc:creator>OpenAI Codex</dc:creator>
  <cp:lastModifiedBy>OpenAI Codex</cp:lastModifiedBy>
  <cp:revision>1</cp:revision>
  <dcterms:created xsi:type="dcterms:W3CDTF">2026-03-28T11:41:43Z</dcterms:created>
  <dcterms:modified xsi:type="dcterms:W3CDTF">2026-03-28T11:41:43Z</dcterms:modified>
</cp:coreProperties>
</file>