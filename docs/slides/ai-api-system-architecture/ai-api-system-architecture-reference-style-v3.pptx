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182880"/>
          </a:xfrm>
          <a:prstGeom prst="rect">
            <a:avLst/>
          </a:prstGeom>
          <a:solidFill>
            <a:srgbClr val="22A6A8"/>
          </a:solidFill>
          <a:ln w="12700">
            <a:solidFill>
              <a:srgbClr val="22A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937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944" y="10789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기록부터 AI 상담까지 이어지는 웹 서비스와 AI 계층 구조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9921240" y="530352"/>
            <a:ext cx="201168" cy="201168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4D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14432" y="530352"/>
            <a:ext cx="201168" cy="201168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07624" y="53035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1408176"/>
            <a:ext cx="0" cy="4791456"/>
          </a:xfrm>
          <a:prstGeom prst="line">
            <a:avLst/>
          </a:prstGeom>
          <a:noFill/>
          <a:ln w="10160">
            <a:solidFill>
              <a:srgbClr val="D6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572768"/>
            <a:ext cx="7772400" cy="3913632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572768"/>
            <a:ext cx="7772400" cy="54864"/>
          </a:xfrm>
          <a:prstGeom prst="rect">
            <a:avLst/>
          </a:prstGeom>
          <a:solidFill>
            <a:srgbClr val="D9F3F4"/>
          </a:solidFill>
          <a:ln w="12700">
            <a:solidFill>
              <a:srgbClr val="D9F3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1682496"/>
            <a:ext cx="1024128" cy="219456"/>
          </a:xfrm>
          <a:prstGeom prst="roundRect">
            <a:avLst>
              <a:gd name="adj" fmla="val 12500"/>
            </a:avLst>
          </a:prstGeom>
          <a:solidFill>
            <a:srgbClr val="FFFDFA"/>
          </a:solidFill>
          <a:ln w="10160">
            <a:solidFill>
              <a:srgbClr val="D9C1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7190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560320" y="1682496"/>
            <a:ext cx="1353312" cy="219456"/>
          </a:xfrm>
          <a:prstGeom prst="roundRect">
            <a:avLst>
              <a:gd name="adj" fmla="val 12500"/>
            </a:avLst>
          </a:prstGeom>
          <a:solidFill>
            <a:srgbClr val="FFFDFA"/>
          </a:solidFill>
          <a:ln w="10160">
            <a:solidFill>
              <a:srgbClr val="D9C1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71907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PLATFORM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784848" y="3401568"/>
            <a:ext cx="1024128" cy="219456"/>
          </a:xfrm>
          <a:prstGeom prst="roundRect">
            <a:avLst>
              <a:gd name="adj" fmla="val 12500"/>
            </a:avLst>
          </a:prstGeom>
          <a:solidFill>
            <a:srgbClr val="FFFDFA"/>
          </a:solidFill>
          <a:ln w="10160">
            <a:solidFill>
              <a:srgbClr val="D9C1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343814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59536" y="2139696"/>
            <a:ext cx="1060704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C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7008" y="2331720"/>
            <a:ext cx="475488" cy="292608"/>
          </a:xfrm>
          <a:prstGeom prst="roundRect">
            <a:avLst>
              <a:gd name="adj" fmla="val 9375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19" name="Image 0" descr="C:\programing\mindcompass\docs\slides\ai-api-system-architecture\assets\icons\browser-chro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3576" y="2372685"/>
            <a:ext cx="342351" cy="21067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05840" y="2706624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2304288" y="2103120"/>
            <a:ext cx="124358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660904" y="2286000"/>
            <a:ext cx="530352" cy="310896"/>
          </a:xfrm>
          <a:prstGeom prst="roundRect">
            <a:avLst>
              <a:gd name="adj" fmla="val 8824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23" name="Image 1" descr="C:\programing\mindcompass\docs\slides\ai-api-system-architecture\assets\icons\spring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5153" y="2329525"/>
            <a:ext cx="381853" cy="22384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404872" y="27066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</a:t>
            </a:r>
            <a:endParaRPr lang="en-US" sz="980" dirty="0"/>
          </a:p>
        </p:txBody>
      </p:sp>
      <p:sp>
        <p:nvSpPr>
          <p:cNvPr id="25" name="Shape 21"/>
          <p:cNvSpPr/>
          <p:nvPr/>
        </p:nvSpPr>
        <p:spPr>
          <a:xfrm>
            <a:off x="3840480" y="2103120"/>
            <a:ext cx="124358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EAD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197096" y="2286000"/>
            <a:ext cx="530352" cy="310896"/>
          </a:xfrm>
          <a:prstGeom prst="roundRect">
            <a:avLst>
              <a:gd name="adj" fmla="val 8824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27" name="Image 2" descr="C:\programing\mindcompass\docs\slides\ai-api-system-architecture\assets\icons\spring-ai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23614" y="2301545"/>
            <a:ext cx="477317" cy="27980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005072" y="27066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449824" y="2103120"/>
            <a:ext cx="133502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5D7AE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824728" y="2286000"/>
            <a:ext cx="548640" cy="310896"/>
          </a:xfrm>
          <a:prstGeom prst="roundRect">
            <a:avLst>
              <a:gd name="adj" fmla="val 8824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31" name="Image 3" descr="C:\programing\mindcompass\docs\slides\ai-api-system-architecture\assets\icons\pytorch-fastapi-combo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46674" y="2298436"/>
            <a:ext cx="504749" cy="28602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77840" y="27066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ai-api-fastapi</a:t>
            </a:r>
            <a:endParaRPr lang="en-US" sz="880" dirty="0"/>
          </a:p>
        </p:txBody>
      </p:sp>
      <p:sp>
        <p:nvSpPr>
          <p:cNvPr id="33" name="Shape 27"/>
          <p:cNvSpPr/>
          <p:nvPr/>
        </p:nvSpPr>
        <p:spPr>
          <a:xfrm>
            <a:off x="6784848" y="3566160"/>
            <a:ext cx="1261872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858000" y="3657600"/>
            <a:ext cx="310896" cy="201168"/>
          </a:xfrm>
          <a:prstGeom prst="roundRect">
            <a:avLst>
              <a:gd name="adj" fmla="val 13636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35" name="Image 4" descr="C:\programing\mindcompass\docs\slides\ai-api-system-architecture\assets\icons\postgresql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981" y="3675705"/>
            <a:ext cx="254935" cy="16495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23760" y="3675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840" dirty="0"/>
          </a:p>
        </p:txBody>
      </p:sp>
      <p:sp>
        <p:nvSpPr>
          <p:cNvPr id="37" name="Text 30"/>
          <p:cNvSpPr/>
          <p:nvPr/>
        </p:nvSpPr>
        <p:spPr>
          <a:xfrm>
            <a:off x="7278624" y="3849624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10" dirty="0"/>
          </a:p>
        </p:txBody>
      </p:sp>
      <p:sp>
        <p:nvSpPr>
          <p:cNvPr id="38" name="Shape 31"/>
          <p:cNvSpPr/>
          <p:nvPr/>
        </p:nvSpPr>
        <p:spPr>
          <a:xfrm>
            <a:off x="6784848" y="4279392"/>
            <a:ext cx="1261872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858000" y="4370832"/>
            <a:ext cx="310896" cy="201168"/>
          </a:xfrm>
          <a:prstGeom prst="roundRect">
            <a:avLst>
              <a:gd name="adj" fmla="val 13636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40" name="Image 5" descr="C:\programing\mindcompass\docs\slides\ai-api-system-architecture\assets\icons\postgresql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85981" y="4388937"/>
            <a:ext cx="254935" cy="16495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223760" y="438912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pgvector</a:t>
            </a:r>
            <a:endParaRPr lang="en-US" sz="840" dirty="0"/>
          </a:p>
        </p:txBody>
      </p:sp>
      <p:sp>
        <p:nvSpPr>
          <p:cNvPr id="42" name="Text 34"/>
          <p:cNvSpPr/>
          <p:nvPr/>
        </p:nvSpPr>
        <p:spPr>
          <a:xfrm>
            <a:off x="7278624" y="4562856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10" dirty="0"/>
          </a:p>
        </p:txBody>
      </p:sp>
      <p:sp>
        <p:nvSpPr>
          <p:cNvPr id="43" name="Shape 35"/>
          <p:cNvSpPr/>
          <p:nvPr/>
        </p:nvSpPr>
        <p:spPr>
          <a:xfrm>
            <a:off x="6784848" y="4992624"/>
            <a:ext cx="1261872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858000" y="5084064"/>
            <a:ext cx="310896" cy="201168"/>
          </a:xfrm>
          <a:prstGeom prst="roundRect">
            <a:avLst>
              <a:gd name="adj" fmla="val 13636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45" name="Image 6" descr="C:\programing\mindcompass\docs\slides\ai-api-system-architecture\assets\icons\openai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85981" y="5102169"/>
            <a:ext cx="254935" cy="16495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223760" y="510235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Provider</a:t>
            </a:r>
            <a:endParaRPr lang="en-US" sz="840" dirty="0"/>
          </a:p>
        </p:txBody>
      </p:sp>
      <p:sp>
        <p:nvSpPr>
          <p:cNvPr id="47" name="Text 38"/>
          <p:cNvSpPr/>
          <p:nvPr/>
        </p:nvSpPr>
        <p:spPr>
          <a:xfrm>
            <a:off x="7278624" y="5276088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10" dirty="0"/>
          </a:p>
        </p:txBody>
      </p:sp>
      <p:sp>
        <p:nvSpPr>
          <p:cNvPr id="48" name="Shape 39"/>
          <p:cNvSpPr/>
          <p:nvPr/>
        </p:nvSpPr>
        <p:spPr>
          <a:xfrm>
            <a:off x="1920240" y="2624328"/>
            <a:ext cx="384048" cy="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9" name="Shape 40"/>
          <p:cNvSpPr/>
          <p:nvPr/>
        </p:nvSpPr>
        <p:spPr>
          <a:xfrm>
            <a:off x="3547872" y="2624328"/>
            <a:ext cx="292608" cy="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0" name="Shape 41"/>
          <p:cNvSpPr/>
          <p:nvPr/>
        </p:nvSpPr>
        <p:spPr>
          <a:xfrm>
            <a:off x="5084064" y="2624328"/>
            <a:ext cx="365760" cy="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2825496" y="3127248"/>
            <a:ext cx="0" cy="73152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52" name="Shape 43"/>
          <p:cNvSpPr/>
          <p:nvPr/>
        </p:nvSpPr>
        <p:spPr>
          <a:xfrm>
            <a:off x="2825496" y="3858768"/>
            <a:ext cx="3959352" cy="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3" name="Text 44"/>
          <p:cNvSpPr/>
          <p:nvPr/>
        </p:nvSpPr>
        <p:spPr>
          <a:xfrm>
            <a:off x="4530852" y="3566160"/>
            <a:ext cx="914400" cy="146304"/>
          </a:xfrm>
          <a:prstGeom prst="rect">
            <a:avLst/>
          </a:prstGeom>
          <a:solidFill>
            <a:srgbClr val="F7F9FC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</a:t>
            </a:r>
            <a:endParaRPr lang="en-US" sz="800" dirty="0"/>
          </a:p>
        </p:txBody>
      </p:sp>
      <p:sp>
        <p:nvSpPr>
          <p:cNvPr id="54" name="Shape 45"/>
          <p:cNvSpPr/>
          <p:nvPr/>
        </p:nvSpPr>
        <p:spPr>
          <a:xfrm>
            <a:off x="4480560" y="3273552"/>
            <a:ext cx="0" cy="1298448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55" name="Shape 46"/>
          <p:cNvSpPr/>
          <p:nvPr/>
        </p:nvSpPr>
        <p:spPr>
          <a:xfrm>
            <a:off x="4480560" y="4681728"/>
            <a:ext cx="1956816" cy="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6" name="Text 47"/>
          <p:cNvSpPr/>
          <p:nvPr/>
        </p:nvSpPr>
        <p:spPr>
          <a:xfrm>
            <a:off x="5038344" y="4389120"/>
            <a:ext cx="914400" cy="146304"/>
          </a:xfrm>
          <a:prstGeom prst="rect">
            <a:avLst/>
          </a:prstGeom>
          <a:solidFill>
            <a:srgbClr val="F7F9FC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800" dirty="0"/>
          </a:p>
        </p:txBody>
      </p:sp>
      <p:sp>
        <p:nvSpPr>
          <p:cNvPr id="57" name="Shape 48"/>
          <p:cNvSpPr/>
          <p:nvPr/>
        </p:nvSpPr>
        <p:spPr>
          <a:xfrm>
            <a:off x="6053328" y="3273552"/>
            <a:ext cx="0" cy="201168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58" name="Shape 49"/>
          <p:cNvSpPr/>
          <p:nvPr/>
        </p:nvSpPr>
        <p:spPr>
          <a:xfrm>
            <a:off x="6053328" y="5358384"/>
            <a:ext cx="384048" cy="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9" name="Text 50"/>
          <p:cNvSpPr/>
          <p:nvPr/>
        </p:nvSpPr>
        <p:spPr>
          <a:xfrm>
            <a:off x="5605272" y="5065776"/>
            <a:ext cx="914400" cy="146304"/>
          </a:xfrm>
          <a:prstGeom prst="rect">
            <a:avLst/>
          </a:prstGeom>
          <a:solidFill>
            <a:srgbClr val="F7F9FC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호출</a:t>
            </a:r>
            <a:endParaRPr lang="en-US" sz="800" dirty="0"/>
          </a:p>
        </p:txBody>
      </p:sp>
      <p:sp>
        <p:nvSpPr>
          <p:cNvPr id="60" name="Text 51"/>
          <p:cNvSpPr/>
          <p:nvPr/>
        </p:nvSpPr>
        <p:spPr>
          <a:xfrm>
            <a:off x="914400" y="54132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흐름</a:t>
            </a:r>
            <a:endParaRPr lang="en-US" sz="1220" dirty="0"/>
          </a:p>
        </p:txBody>
      </p:sp>
      <p:sp>
        <p:nvSpPr>
          <p:cNvPr id="61" name="Text 52"/>
          <p:cNvSpPr/>
          <p:nvPr/>
        </p:nvSpPr>
        <p:spPr>
          <a:xfrm>
            <a:off x="914400" y="55961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Responsive Web -&gt; backend-api -&gt; ai-api -&gt; ai-api-fastapi</a:t>
            </a:r>
            <a:endParaRPr lang="en-US" sz="1040" dirty="0"/>
          </a:p>
        </p:txBody>
      </p:sp>
      <p:sp>
        <p:nvSpPr>
          <p:cNvPr id="62" name="Text 53"/>
          <p:cNvSpPr/>
          <p:nvPr/>
        </p:nvSpPr>
        <p:spPr>
          <a:xfrm>
            <a:off x="8101584" y="1536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1: 사용자 요청]</a:t>
            </a:r>
            <a:endParaRPr lang="en-US" sz="1300" dirty="0"/>
          </a:p>
        </p:txBody>
      </p:sp>
      <p:sp>
        <p:nvSpPr>
          <p:cNvPr id="63" name="Text 54"/>
          <p:cNvSpPr/>
          <p:nvPr/>
        </p:nvSpPr>
        <p:spPr>
          <a:xfrm>
            <a:off x="8119872" y="183794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브라우저에서 반응형 웹에 접속합니다.</a:t>
            </a:r>
            <a:endParaRPr lang="en-US" sz="1050" dirty="0"/>
          </a:p>
        </p:txBody>
      </p:sp>
      <p:sp>
        <p:nvSpPr>
          <p:cNvPr id="64" name="Text 55"/>
          <p:cNvSpPr/>
          <p:nvPr/>
        </p:nvSpPr>
        <p:spPr>
          <a:xfrm>
            <a:off x="8119872" y="2167128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모든 화면 요청은 backend-api로 전달됩니다.</a:t>
            </a:r>
            <a:endParaRPr lang="en-US" sz="1050" dirty="0"/>
          </a:p>
        </p:txBody>
      </p:sp>
      <p:sp>
        <p:nvSpPr>
          <p:cNvPr id="65" name="Text 56"/>
          <p:cNvSpPr/>
          <p:nvPr/>
        </p:nvSpPr>
        <p:spPr>
          <a:xfrm>
            <a:off x="8101584" y="2615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2: 공개 API 처리]</a:t>
            </a:r>
            <a:endParaRPr lang="en-US" sz="1300" dirty="0"/>
          </a:p>
        </p:txBody>
      </p:sp>
      <p:sp>
        <p:nvSpPr>
          <p:cNvPr id="66" name="Text 57"/>
          <p:cNvSpPr/>
          <p:nvPr/>
        </p:nvSpPr>
        <p:spPr>
          <a:xfrm>
            <a:off x="8119872" y="2916936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공개 API 진입점은 backend-api 하나입니다.</a:t>
            </a:r>
            <a:endParaRPr lang="en-US" sz="1050" dirty="0"/>
          </a:p>
        </p:txBody>
      </p:sp>
      <p:sp>
        <p:nvSpPr>
          <p:cNvPr id="67" name="Text 58"/>
          <p:cNvSpPr/>
          <p:nvPr/>
        </p:nvSpPr>
        <p:spPr>
          <a:xfrm>
            <a:off x="8119872" y="324612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인증, 일기, 채팅, 캘린더, 리포트를 처리합니다.</a:t>
            </a:r>
            <a:endParaRPr lang="en-US" sz="1050" dirty="0"/>
          </a:p>
        </p:txBody>
      </p:sp>
      <p:sp>
        <p:nvSpPr>
          <p:cNvPr id="68" name="Text 59"/>
          <p:cNvSpPr/>
          <p:nvPr/>
        </p:nvSpPr>
        <p:spPr>
          <a:xfrm>
            <a:off x="8101584" y="3694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3: 내부 AI 오케스트레이션]</a:t>
            </a:r>
            <a:endParaRPr lang="en-US" sz="1300" dirty="0"/>
          </a:p>
        </p:txBody>
      </p:sp>
      <p:sp>
        <p:nvSpPr>
          <p:cNvPr id="69" name="Text 60"/>
          <p:cNvSpPr/>
          <p:nvPr/>
        </p:nvSpPr>
        <p:spPr>
          <a:xfrm>
            <a:off x="8119872" y="3995928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ai-api가 내부 AI 흐름을 조합합니다.</a:t>
            </a:r>
            <a:endParaRPr lang="en-US" sz="1050" dirty="0"/>
          </a:p>
        </p:txBody>
      </p:sp>
      <p:sp>
        <p:nvSpPr>
          <p:cNvPr id="70" name="Text 61"/>
          <p:cNvSpPr/>
          <p:nvPr/>
        </p:nvSpPr>
        <p:spPr>
          <a:xfrm>
            <a:off x="8119872" y="4325112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감정 분류가 필요할 때만 ai-api-fastapi를 호출합니다.</a:t>
            </a:r>
            <a:endParaRPr lang="en-US" sz="1050" dirty="0"/>
          </a:p>
        </p:txBody>
      </p:sp>
      <p:sp>
        <p:nvSpPr>
          <p:cNvPr id="71" name="Text 62"/>
          <p:cNvSpPr/>
          <p:nvPr/>
        </p:nvSpPr>
        <p:spPr>
          <a:xfrm>
            <a:off x="8101584" y="5010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4: 저장소와 최종 응답]</a:t>
            </a:r>
            <a:endParaRPr lang="en-US" sz="1300" dirty="0"/>
          </a:p>
        </p:txBody>
      </p:sp>
      <p:sp>
        <p:nvSpPr>
          <p:cNvPr id="72" name="Text 63"/>
          <p:cNvSpPr/>
          <p:nvPr/>
        </p:nvSpPr>
        <p:spPr>
          <a:xfrm>
            <a:off x="8119872" y="531266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PostgreSQL, pgvector, LLM Provider를 함께 사용합니다.</a:t>
            </a:r>
            <a:endParaRPr lang="en-US" sz="1050" dirty="0"/>
          </a:p>
        </p:txBody>
      </p:sp>
      <p:sp>
        <p:nvSpPr>
          <p:cNvPr id="73" name="Text 64"/>
          <p:cNvSpPr/>
          <p:nvPr/>
        </p:nvSpPr>
        <p:spPr>
          <a:xfrm>
            <a:off x="8119872" y="5641848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최종 응답은 다시 backend-api를 통해 반환됩니다.</a:t>
            </a:r>
            <a:endParaRPr lang="en-US" sz="1050" dirty="0"/>
          </a:p>
        </p:txBody>
      </p:sp>
      <p:sp>
        <p:nvSpPr>
          <p:cNvPr id="74" name="Shape 65"/>
          <p:cNvSpPr/>
          <p:nvPr/>
        </p:nvSpPr>
        <p:spPr>
          <a:xfrm>
            <a:off x="713232" y="5248656"/>
            <a:ext cx="5852160" cy="51206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75" name="Text 66"/>
          <p:cNvSpPr/>
          <p:nvPr/>
        </p:nvSpPr>
        <p:spPr>
          <a:xfrm>
            <a:off x="8485632" y="199339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backend-api만 외부에 공개되고 내부 AI 호출은 서버 내부에서만 이어집니다.</a:t>
            </a:r>
            <a:endParaRPr lang="en-US" sz="1010" dirty="0"/>
          </a:p>
        </p:txBody>
      </p:sp>
      <p:sp>
        <p:nvSpPr>
          <p:cNvPr id="76" name="Text 67"/>
          <p:cNvSpPr/>
          <p:nvPr/>
        </p:nvSpPr>
        <p:spPr>
          <a:xfrm>
            <a:off x="8138160" y="3072384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사용자는 ai-api나 ai-api-fastapi를 직접 호출하지 않습니다.</a:t>
            </a:r>
            <a:endParaRPr lang="en-US" sz="1010" dirty="0"/>
          </a:p>
        </p:txBody>
      </p:sp>
      <p:sp>
        <p:nvSpPr>
          <p:cNvPr id="77" name="Text 68"/>
          <p:cNvSpPr/>
          <p:nvPr/>
        </p:nvSpPr>
        <p:spPr>
          <a:xfrm>
            <a:off x="8138160" y="4480560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ai-api-fastapi는 감정분류 모델 서빙, 버전 관리, threshold 조정 역할을 맡습니다.</a:t>
            </a:r>
            <a:endParaRPr lang="en-US" sz="990" dirty="0"/>
          </a:p>
        </p:txBody>
      </p:sp>
      <p:sp>
        <p:nvSpPr>
          <p:cNvPr id="78" name="Text 69"/>
          <p:cNvSpPr/>
          <p:nvPr/>
        </p:nvSpPr>
        <p:spPr>
          <a:xfrm>
            <a:off x="8138160" y="577900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최종 응답은 다시 backend-api를 거쳐 반응형 웹 화면에 전달됩니다.</a:t>
            </a:r>
            <a:endParaRPr lang="en-US" sz="1000" dirty="0"/>
          </a:p>
        </p:txBody>
      </p:sp>
      <p:sp>
        <p:nvSpPr>
          <p:cNvPr id="79" name="Shape 70"/>
          <p:cNvSpPr/>
          <p:nvPr/>
        </p:nvSpPr>
        <p:spPr>
          <a:xfrm>
            <a:off x="7973568" y="1371600"/>
            <a:ext cx="3840480" cy="48920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80" name="Shape 71"/>
          <p:cNvSpPr/>
          <p:nvPr/>
        </p:nvSpPr>
        <p:spPr>
          <a:xfrm>
            <a:off x="8394192" y="1408176"/>
            <a:ext cx="0" cy="4791456"/>
          </a:xfrm>
          <a:prstGeom prst="line">
            <a:avLst/>
          </a:prstGeom>
          <a:noFill/>
          <a:ln w="10160">
            <a:solidFill>
              <a:srgbClr val="D6DCE5"/>
            </a:solidFill>
            <a:prstDash val="solid"/>
          </a:ln>
        </p:spPr>
      </p:sp>
      <p:sp>
        <p:nvSpPr>
          <p:cNvPr id="81" name="Text 72"/>
          <p:cNvSpPr/>
          <p:nvPr/>
        </p:nvSpPr>
        <p:spPr>
          <a:xfrm>
            <a:off x="8138160" y="151790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1: 사용자 요청]</a:t>
            </a:r>
            <a:endParaRPr lang="en-US" sz="1200" dirty="0"/>
          </a:p>
        </p:txBody>
      </p:sp>
      <p:sp>
        <p:nvSpPr>
          <p:cNvPr id="82" name="Text 73"/>
          <p:cNvSpPr/>
          <p:nvPr/>
        </p:nvSpPr>
        <p:spPr>
          <a:xfrm>
            <a:off x="8503920" y="184708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브라우저에서 감정캠퍼스 반응형 웹 화면을 엽니다.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Next.js 화면이 필요한 데이터를 backend-api로 요청합니다.</a:t>
            </a:r>
            <a:endParaRPr lang="en-US" sz="920" dirty="0"/>
          </a:p>
        </p:txBody>
      </p:sp>
      <p:sp>
        <p:nvSpPr>
          <p:cNvPr id="83" name="Text 74"/>
          <p:cNvSpPr/>
          <p:nvPr/>
        </p:nvSpPr>
        <p:spPr>
          <a:xfrm>
            <a:off x="8485632" y="254203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2: 공개 API 처리]</a:t>
            </a:r>
            <a:endParaRPr lang="en-US" sz="1200" dirty="0"/>
          </a:p>
        </p:txBody>
      </p:sp>
      <p:sp>
        <p:nvSpPr>
          <p:cNvPr id="84" name="Text 75"/>
          <p:cNvSpPr/>
          <p:nvPr/>
        </p:nvSpPr>
        <p:spPr>
          <a:xfrm>
            <a:off x="8503920" y="2871216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공개 API 진입점은 backend-api 하나입니다.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인증, 회원, 일기, 채팅 세션, 캘린더, 리포트 저장/조회를 처리합니다.</a:t>
            </a:r>
            <a:endParaRPr lang="en-US" sz="920" dirty="0"/>
          </a:p>
        </p:txBody>
      </p:sp>
      <p:sp>
        <p:nvSpPr>
          <p:cNvPr id="85" name="Text 76"/>
          <p:cNvSpPr/>
          <p:nvPr/>
        </p:nvSpPr>
        <p:spPr>
          <a:xfrm>
            <a:off x="8485632" y="363931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3: 내부 AI 오케스트레이션]</a:t>
            </a:r>
            <a:endParaRPr lang="en-US" sz="1200" dirty="0"/>
          </a:p>
        </p:txBody>
      </p:sp>
      <p:sp>
        <p:nvSpPr>
          <p:cNvPr id="86" name="Text 77"/>
          <p:cNvSpPr/>
          <p:nvPr/>
        </p:nvSpPr>
        <p:spPr>
          <a:xfrm>
            <a:off x="8503920" y="3968496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backend-api가 내부적으로 ai-api를 호출합니다.</a:t>
            </a:r>
            <a:endParaRPr lang="en-US" sz="895" dirty="0"/>
          </a:p>
          <a:p>
            <a:pPr indent="0" marL="0">
              <a:buNone/>
            </a:pPr>
            <a:r>
              <a:rPr lang="en-US" sz="89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ai-api는 프롬프트, 메모리, RAG, safety, fallback을 조합합니다.</a:t>
            </a:r>
            <a:endParaRPr lang="en-US" sz="895" dirty="0"/>
          </a:p>
          <a:p>
            <a:pPr indent="0" marL="0">
              <a:buNone/>
            </a:pPr>
            <a:r>
              <a:rPr lang="en-US" sz="89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감정 분류가 필요할 때만 ai-api-fastapi 모델 서빙 계층을 호출합니다.</a:t>
            </a:r>
            <a:endParaRPr lang="en-US" sz="895" dirty="0"/>
          </a:p>
        </p:txBody>
      </p:sp>
      <p:sp>
        <p:nvSpPr>
          <p:cNvPr id="87" name="Text 78"/>
          <p:cNvSpPr/>
          <p:nvPr/>
        </p:nvSpPr>
        <p:spPr>
          <a:xfrm>
            <a:off x="8485632" y="508406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4: 저장소와 최종 응답]</a:t>
            </a:r>
            <a:endParaRPr lang="en-US" sz="1200" dirty="0"/>
          </a:p>
        </p:txBody>
      </p:sp>
      <p:sp>
        <p:nvSpPr>
          <p:cNvPr id="88" name="Text 79"/>
          <p:cNvSpPr/>
          <p:nvPr/>
        </p:nvSpPr>
        <p:spPr>
          <a:xfrm>
            <a:off x="8503920" y="5413248"/>
            <a:ext cx="30358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PostgreSQL, pgvector, LLM Provider를 함께 사용합니다.</a:t>
            </a:r>
            <a:endParaRPr lang="en-US" sz="895" dirty="0"/>
          </a:p>
          <a:p>
            <a:pPr indent="0" marL="0">
              <a:buNone/>
            </a:pPr>
            <a:r>
              <a:rPr lang="en-US" sz="89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저장/조회는 backend-api가, AI 응답 조합은 ai-api가 담당합니다.</a:t>
            </a:r>
            <a:endParaRPr lang="en-US" sz="895" dirty="0"/>
          </a:p>
          <a:p>
            <a:pPr indent="0" marL="0">
              <a:buNone/>
            </a:pPr>
            <a:r>
              <a:rPr lang="en-US" sz="89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최종 응답은 다시 backend-api를 통해 웹으로 반환됩니다.</a:t>
            </a:r>
            <a:endParaRPr lang="en-US" sz="89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Mind Compass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 Compass Web AI Architecture v3-safe</dc:title>
  <dc:subject>Mind Compass web ai architecture v3-safe</dc:subject>
  <dc:creator>OpenAI Codex</dc:creator>
  <cp:lastModifiedBy>OpenAI Codex</cp:lastModifiedBy>
  <cp:revision>1</cp:revision>
  <dcterms:created xsi:type="dcterms:W3CDTF">2026-03-28T14:39:04Z</dcterms:created>
  <dcterms:modified xsi:type="dcterms:W3CDTF">2026-03-28T14:39:04Z</dcterms:modified>
</cp:coreProperties>
</file>