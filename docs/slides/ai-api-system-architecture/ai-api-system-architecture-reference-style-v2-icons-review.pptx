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"/>
            <a:ext cx="12191695" cy="182880"/>
          </a:xfrm>
          <a:prstGeom prst="rect">
            <a:avLst/>
          </a:prstGeom>
          <a:solidFill>
            <a:srgbClr val="22A6A8"/>
          </a:solidFill>
          <a:ln w="12700">
            <a:solidFill>
              <a:srgbClr val="22A6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4937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94944" y="107899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기록부터 AI 상담까지 이어지는 웹 서비스와 AI 계층 구조</a:t>
            </a:r>
            <a:endParaRPr lang="en-US" sz="1130" dirty="0"/>
          </a:p>
        </p:txBody>
      </p:sp>
      <p:sp>
        <p:nvSpPr>
          <p:cNvPr id="5" name="Shape 3"/>
          <p:cNvSpPr/>
          <p:nvPr/>
        </p:nvSpPr>
        <p:spPr>
          <a:xfrm>
            <a:off x="9921240" y="530352"/>
            <a:ext cx="201168" cy="201168"/>
          </a:xfrm>
          <a:prstGeom prst="ellipse">
            <a:avLst/>
          </a:prstGeom>
          <a:solidFill>
            <a:srgbClr val="FF4D4F"/>
          </a:solidFill>
          <a:ln w="12700">
            <a:solidFill>
              <a:srgbClr val="FF4D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14432" y="530352"/>
            <a:ext cx="201168" cy="201168"/>
          </a:xfrm>
          <a:prstGeom prst="ellipse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07624" y="53035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572768"/>
            <a:ext cx="6583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572768"/>
            <a:ext cx="6583680" cy="54864"/>
          </a:xfrm>
          <a:prstGeom prst="rect">
            <a:avLst/>
          </a:prstGeom>
          <a:solidFill>
            <a:srgbClr val="D9F3F4"/>
          </a:solidFill>
          <a:ln w="12700">
            <a:solidFill>
              <a:srgbClr val="D9F3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24928" y="1572768"/>
            <a:ext cx="40690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4928" y="3703320"/>
            <a:ext cx="4069080" cy="2121408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901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6112" y="2139696"/>
            <a:ext cx="1417320" cy="1143000"/>
          </a:xfrm>
          <a:prstGeom prst="roundRect">
            <a:avLst>
              <a:gd name="adj" fmla="val 6400"/>
            </a:avLst>
          </a:prstGeom>
          <a:solidFill>
            <a:srgbClr val="E6F8F8"/>
          </a:solidFill>
          <a:ln w="12700">
            <a:solidFill>
              <a:srgbClr val="BC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07592" y="2286000"/>
            <a:ext cx="585216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15" name="Image 0" descr="C:\programing\mindcompass\docs\slides\ai-api-system-architecture\assets\icons\browser-chrom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89522" y="2334646"/>
            <a:ext cx="421356" cy="2501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24128" y="2706624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Mind Compass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Responsive Web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005840" y="3035808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 기반 웹 화면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2578608" y="18288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286000" y="2048256"/>
            <a:ext cx="1755648" cy="1353312"/>
          </a:xfrm>
          <a:prstGeom prst="roundRect">
            <a:avLst>
              <a:gd name="adj" fmla="val 5405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852928" y="2212848"/>
            <a:ext cx="621792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1" name="Image 1" descr="C:\programing\mindcompass\docs\slides\ai-api-system-architecture\assets\icons\sprin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39979" y="2261494"/>
            <a:ext cx="447690" cy="2501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487168" y="268833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public API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2395728" y="29077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 · Diary · Calendar</a:t>
            </a:r>
            <a:endParaRPr lang="en-US" sz="910" dirty="0"/>
          </a:p>
          <a:p>
            <a:pPr algn="ctr" indent="0" marL="0">
              <a:buNone/>
            </a:pPr>
            <a:r>
              <a:rPr lang="en-US" sz="91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 · Report · Save</a:t>
            </a:r>
            <a:endParaRPr lang="en-US" sz="910" dirty="0"/>
          </a:p>
        </p:txBody>
      </p:sp>
      <p:sp>
        <p:nvSpPr>
          <p:cNvPr id="24" name="Text 20"/>
          <p:cNvSpPr/>
          <p:nvPr/>
        </p:nvSpPr>
        <p:spPr>
          <a:xfrm>
            <a:off x="4590288" y="18288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242816" y="2048256"/>
            <a:ext cx="1755648" cy="1572768"/>
          </a:xfrm>
          <a:prstGeom prst="roundRect">
            <a:avLst>
              <a:gd name="adj" fmla="val 4651"/>
            </a:avLst>
          </a:prstGeom>
          <a:solidFill>
            <a:srgbClr val="EAF8EF"/>
          </a:solidFill>
          <a:ln w="12700">
            <a:solidFill>
              <a:srgbClr val="CFEAD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09744" y="2212848"/>
            <a:ext cx="621792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27" name="Image 2" descr="C:\programing\mindcompass\docs\slides\ai-api-system-architecture\assets\icons\spring-ai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0834" y="2230222"/>
            <a:ext cx="559613" cy="312725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498848" y="268833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Orchestrator</a:t>
            </a:r>
            <a:endParaRPr lang="en-US" sz="1080" dirty="0"/>
          </a:p>
        </p:txBody>
      </p:sp>
      <p:sp>
        <p:nvSpPr>
          <p:cNvPr id="29" name="Text 24"/>
          <p:cNvSpPr/>
          <p:nvPr/>
        </p:nvSpPr>
        <p:spPr>
          <a:xfrm>
            <a:off x="4334256" y="290779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 · Memory · RAG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Safety · Fallback · Compose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480560" y="389534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</a:t>
            </a:r>
            <a:endParaRPr lang="en-US" sz="1340" dirty="0"/>
          </a:p>
        </p:txBody>
      </p:sp>
      <p:sp>
        <p:nvSpPr>
          <p:cNvPr id="31" name="Shape 26"/>
          <p:cNvSpPr/>
          <p:nvPr/>
        </p:nvSpPr>
        <p:spPr>
          <a:xfrm>
            <a:off x="4425696" y="4114800"/>
            <a:ext cx="1664208" cy="1097280"/>
          </a:xfrm>
          <a:prstGeom prst="roundRect">
            <a:avLst>
              <a:gd name="adj" fmla="val 6667"/>
            </a:avLst>
          </a:prstGeom>
          <a:solidFill>
            <a:srgbClr val="FFF3E4"/>
          </a:solidFill>
          <a:ln w="12700">
            <a:solidFill>
              <a:srgbClr val="F5D7AE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965192" y="4279392"/>
            <a:ext cx="585216" cy="347472"/>
          </a:xfrm>
          <a:prstGeom prst="roundRect">
            <a:avLst>
              <a:gd name="adj" fmla="val 7895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3" name="Image 3" descr="C:\programing\mindcompass\docs\slides\ai-api-system-architecture\assets\icons\pytorch-fastapi-combo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88601" y="4293291"/>
            <a:ext cx="538399" cy="31967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4590288" y="470001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Emotion Model API</a:t>
            </a:r>
            <a:endParaRPr lang="en-US" sz="1060" dirty="0"/>
          </a:p>
        </p:txBody>
      </p:sp>
      <p:sp>
        <p:nvSpPr>
          <p:cNvPr id="35" name="Text 29"/>
          <p:cNvSpPr/>
          <p:nvPr/>
        </p:nvSpPr>
        <p:spPr>
          <a:xfrm>
            <a:off x="4590288" y="49011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emotion classify</a:t>
            </a:r>
            <a:endParaRPr lang="en-US" sz="870" dirty="0"/>
          </a:p>
          <a:p>
            <a:pPr algn="ctr" indent="0" marL="0">
              <a:buNone/>
            </a:pPr>
            <a:r>
              <a:rPr lang="en-US" sz="87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versioning · threshold</a:t>
            </a:r>
            <a:endParaRPr lang="en-US" sz="870" dirty="0"/>
          </a:p>
        </p:txBody>
      </p:sp>
      <p:sp>
        <p:nvSpPr>
          <p:cNvPr id="36" name="Text 30"/>
          <p:cNvSpPr/>
          <p:nvPr/>
        </p:nvSpPr>
        <p:spPr>
          <a:xfrm>
            <a:off x="6446520" y="1828800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/ LLM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6419088" y="2048256"/>
            <a:ext cx="658368" cy="1234440"/>
          </a:xfrm>
          <a:prstGeom prst="roundRect">
            <a:avLst>
              <a:gd name="adj" fmla="val 11111"/>
            </a:avLst>
          </a:prstGeom>
          <a:solidFill>
            <a:srgbClr val="F3EDFF"/>
          </a:solidFill>
          <a:ln w="12700">
            <a:solidFill>
              <a:srgbClr val="DDD2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537960" y="2231136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39" name="Image 4" descr="C:\programing\mindcompass\docs\slides\ai-api-system-architecture\assets\icons\postgresql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75816" y="2255825"/>
            <a:ext cx="344912" cy="22494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519672" y="2615184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store</a:t>
            </a:r>
            <a:endParaRPr lang="en-US" sz="820" dirty="0"/>
          </a:p>
        </p:txBody>
      </p:sp>
      <p:sp>
        <p:nvSpPr>
          <p:cNvPr id="41" name="Text 34"/>
          <p:cNvSpPr/>
          <p:nvPr/>
        </p:nvSpPr>
        <p:spPr>
          <a:xfrm>
            <a:off x="6519672" y="27614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</a:t>
            </a:r>
            <a:endParaRPr lang="en-US" sz="730" dirty="0"/>
          </a:p>
        </p:txBody>
      </p:sp>
      <p:sp>
        <p:nvSpPr>
          <p:cNvPr id="42" name="Shape 35"/>
          <p:cNvSpPr/>
          <p:nvPr/>
        </p:nvSpPr>
        <p:spPr>
          <a:xfrm>
            <a:off x="6419088" y="3730752"/>
            <a:ext cx="658368" cy="1051560"/>
          </a:xfrm>
          <a:prstGeom prst="roundRect">
            <a:avLst>
              <a:gd name="adj" fmla="val 11111"/>
            </a:avLst>
          </a:prstGeom>
          <a:solidFill>
            <a:srgbClr val="EEF3F8"/>
          </a:solidFill>
          <a:ln w="12700">
            <a:solidFill>
              <a:srgbClr val="DCE4EE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6537960" y="3886200"/>
            <a:ext cx="420624" cy="274320"/>
          </a:xfrm>
          <a:prstGeom prst="roundRect">
            <a:avLst>
              <a:gd name="adj" fmla="val 10000"/>
            </a:avLst>
          </a:prstGeom>
          <a:solidFill>
            <a:srgbClr val="FBFCFE"/>
          </a:solidFill>
          <a:ln w="12700">
            <a:solidFill>
              <a:srgbClr val="D7E0EA"/>
            </a:solidFill>
            <a:prstDash val="solid"/>
          </a:ln>
        </p:spPr>
      </p:sp>
      <p:pic>
        <p:nvPicPr>
          <p:cNvPr id="44" name="Image 5" descr="C:\programing\mindcompass\docs\slides\ai-api-system-architecture\assets\icons\openai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0022" y="3913632"/>
            <a:ext cx="336499" cy="219456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6647688" y="4270248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820" dirty="0"/>
          </a:p>
        </p:txBody>
      </p:sp>
      <p:sp>
        <p:nvSpPr>
          <p:cNvPr id="46" name="Text 38"/>
          <p:cNvSpPr/>
          <p:nvPr/>
        </p:nvSpPr>
        <p:spPr>
          <a:xfrm>
            <a:off x="6537960" y="4425696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provider</a:t>
            </a:r>
            <a:endParaRPr lang="en-US" sz="720" dirty="0"/>
          </a:p>
        </p:txBody>
      </p:sp>
      <p:sp>
        <p:nvSpPr>
          <p:cNvPr id="47" name="Shape 39"/>
          <p:cNvSpPr/>
          <p:nvPr/>
        </p:nvSpPr>
        <p:spPr>
          <a:xfrm>
            <a:off x="2313432" y="2715768"/>
            <a:ext cx="4572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8" name="Shape 40"/>
          <p:cNvSpPr/>
          <p:nvPr/>
        </p:nvSpPr>
        <p:spPr>
          <a:xfrm>
            <a:off x="4041648" y="2715768"/>
            <a:ext cx="18288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5257800" y="3621024"/>
            <a:ext cx="0" cy="475488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0" name="Shape 42"/>
          <p:cNvSpPr/>
          <p:nvPr/>
        </p:nvSpPr>
        <p:spPr>
          <a:xfrm>
            <a:off x="6053328" y="2706624"/>
            <a:ext cx="34747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1" name="Shape 43"/>
          <p:cNvSpPr/>
          <p:nvPr/>
        </p:nvSpPr>
        <p:spPr>
          <a:xfrm>
            <a:off x="6053328" y="4242816"/>
            <a:ext cx="34747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2" name="Text 44"/>
          <p:cNvSpPr/>
          <p:nvPr/>
        </p:nvSpPr>
        <p:spPr>
          <a:xfrm>
            <a:off x="914400" y="546811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흐름</a:t>
            </a:r>
            <a:endParaRPr lang="en-US" sz="1250" dirty="0"/>
          </a:p>
        </p:txBody>
      </p:sp>
      <p:sp>
        <p:nvSpPr>
          <p:cNvPr id="53" name="Text 45"/>
          <p:cNvSpPr/>
          <p:nvPr/>
        </p:nvSpPr>
        <p:spPr>
          <a:xfrm>
            <a:off x="914400" y="565099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Responsive Web -&gt; backend-api -&gt; ai-api -&gt; ai-api-fastapi</a:t>
            </a:r>
            <a:endParaRPr lang="en-US" sz="1080" dirty="0"/>
          </a:p>
        </p:txBody>
      </p:sp>
      <p:sp>
        <p:nvSpPr>
          <p:cNvPr id="54" name="Text 46"/>
          <p:cNvSpPr/>
          <p:nvPr/>
        </p:nvSpPr>
        <p:spPr>
          <a:xfrm>
            <a:off x="914400" y="5888736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store와 LLM Provider는 ai-api가 필요할 때만 내부적으로 호출합니다.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7662672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 원칙</a:t>
            </a:r>
            <a:endParaRPr lang="en-US" sz="1350" dirty="0"/>
          </a:p>
        </p:txBody>
      </p:sp>
      <p:sp>
        <p:nvSpPr>
          <p:cNvPr id="56" name="Text 48"/>
          <p:cNvSpPr/>
          <p:nvPr/>
        </p:nvSpPr>
        <p:spPr>
          <a:xfrm>
            <a:off x="7635240" y="2194560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감정캠퍼스는 모바일 앱이 아니라 반응형 웹 서비스입니다.</a:t>
            </a:r>
            <a:endParaRPr lang="en-US" sz="1120" dirty="0"/>
          </a:p>
        </p:txBody>
      </p:sp>
      <p:sp>
        <p:nvSpPr>
          <p:cNvPr id="57" name="Text 49"/>
          <p:cNvSpPr/>
          <p:nvPr/>
        </p:nvSpPr>
        <p:spPr>
          <a:xfrm>
            <a:off x="7635240" y="2670048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backend-api가 공개 API 진입점이며 인증, 저장, 비즈니스 흐름을 담당합니다.</a:t>
            </a:r>
            <a:endParaRPr lang="en-US" sz="1120" dirty="0"/>
          </a:p>
        </p:txBody>
      </p:sp>
      <p:sp>
        <p:nvSpPr>
          <p:cNvPr id="58" name="Text 50"/>
          <p:cNvSpPr/>
          <p:nvPr/>
        </p:nvSpPr>
        <p:spPr>
          <a:xfrm>
            <a:off x="7635240" y="314553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ai-api는 AI 오케스트레이터로서 프롬프트, 메모리, RAG, safety, fallback을 조합합니다.</a:t>
            </a:r>
            <a:endParaRPr lang="en-US" sz="1120" dirty="0"/>
          </a:p>
        </p:txBody>
      </p:sp>
      <p:sp>
        <p:nvSpPr>
          <p:cNvPr id="59" name="Text 51"/>
          <p:cNvSpPr/>
          <p:nvPr/>
        </p:nvSpPr>
        <p:spPr>
          <a:xfrm>
            <a:off x="7662672" y="39684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서빙 분리</a:t>
            </a:r>
            <a:endParaRPr lang="en-US" sz="1350" dirty="0"/>
          </a:p>
        </p:txBody>
      </p:sp>
      <p:sp>
        <p:nvSpPr>
          <p:cNvPr id="60" name="Text 52"/>
          <p:cNvSpPr/>
          <p:nvPr/>
        </p:nvSpPr>
        <p:spPr>
          <a:xfrm>
            <a:off x="7635240" y="4334256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ai-api-fastapi는 단순 비교 서버가 아니라 감정분류 모델 서빙 계층입니다.</a:t>
            </a:r>
            <a:endParaRPr lang="en-US" sz="1120" dirty="0"/>
          </a:p>
        </p:txBody>
      </p:sp>
      <p:sp>
        <p:nvSpPr>
          <p:cNvPr id="61" name="Text 53"/>
          <p:cNvSpPr/>
          <p:nvPr/>
        </p:nvSpPr>
        <p:spPr>
          <a:xfrm>
            <a:off x="7635240" y="4809744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역할은 감정분류 추론, 모델 버전 관리, threshold 실험, 메타데이터 반환입니다.</a:t>
            </a:r>
            <a:endParaRPr lang="en-US" sz="1120" dirty="0"/>
          </a:p>
        </p:txBody>
      </p:sp>
      <p:sp>
        <p:nvSpPr>
          <p:cNvPr id="62" name="Text 54"/>
          <p:cNvSpPr/>
          <p:nvPr/>
        </p:nvSpPr>
        <p:spPr>
          <a:xfrm>
            <a:off x="7635240" y="5285232"/>
            <a:ext cx="3611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•"/>
            </a:pPr>
            <a:r>
              <a:rPr lang="en-US" sz="11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backend-api가 FastAPI를 직접 호출하지 않고, AI 관련 진입점은 ai-api 하나로 고정합니다.</a:t>
            </a:r>
            <a:endParaRPr lang="en-US" sz="1120" dirty="0"/>
          </a:p>
        </p:txBody>
      </p:sp>
      <p:sp>
        <p:nvSpPr>
          <p:cNvPr id="63" name="Text 55"/>
          <p:cNvSpPr/>
          <p:nvPr/>
        </p:nvSpPr>
        <p:spPr>
          <a:xfrm>
            <a:off x="676656" y="6428232"/>
            <a:ext cx="10058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 삽입 위치: 각 카드 상단 점선 [아이콘] 박스에 웹/브라우저, Spring, Spring AI, PyTorch/FastAPI, pgvector, OpenAI 아이콘을 넣으면 됩니다.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Mind Compass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 Compass Web AI Architecture</dc:title>
  <dc:subject>Mind Compass web ai architecture</dc:subject>
  <dc:creator>OpenAI Codex</dc:creator>
  <cp:lastModifiedBy>OpenAI Codex</cp:lastModifiedBy>
  <cp:revision>1</cp:revision>
  <dcterms:created xsi:type="dcterms:W3CDTF">2026-03-28T12:31:08Z</dcterms:created>
  <dcterms:modified xsi:type="dcterms:W3CDTF">2026-03-28T12:31:08Z</dcterms:modified>
</cp:coreProperties>
</file>