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5376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0928D"/>
          </a:solidFill>
          <a:ln w="12700">
            <a:solidFill>
              <a:srgbClr val="1092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438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RESTful API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8961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요청을 backend-api 단일 공개 경계로 수렴시키고 도메인 처리와 저장소 접근을 분리한 구조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22792" y="1225296"/>
            <a:ext cx="0" cy="5257800"/>
          </a:xfrm>
          <a:prstGeom prst="line">
            <a:avLst/>
          </a:prstGeom>
          <a:noFill/>
          <a:ln w="10160">
            <a:solidFill>
              <a:srgbClr val="C7D0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938528"/>
            <a:ext cx="1408176" cy="987552"/>
          </a:xfrm>
          <a:prstGeom prst="roundRect">
            <a:avLst>
              <a:gd name="adj" fmla="val 7407"/>
            </a:avLst>
          </a:prstGeom>
          <a:solidFill>
            <a:srgbClr val="FCFCFB"/>
          </a:solidFill>
          <a:ln w="10160">
            <a:solidFill>
              <a:srgbClr val="DAB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801368"/>
            <a:ext cx="969264" cy="219456"/>
          </a:xfrm>
          <a:prstGeom prst="roundRect">
            <a:avLst>
              <a:gd name="adj" fmla="val 12500"/>
            </a:avLst>
          </a:prstGeom>
          <a:solidFill>
            <a:srgbClr val="FFF9EE"/>
          </a:solidFill>
          <a:ln w="10160">
            <a:solidFill>
              <a:srgbClr val="DAB9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9264" y="184251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C72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060704" y="2139696"/>
            <a:ext cx="95097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8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289304" y="2267712"/>
            <a:ext cx="493776" cy="274320"/>
          </a:xfrm>
          <a:prstGeom prst="roundRect">
            <a:avLst>
              <a:gd name="adj" fmla="val 10000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C:\programing\mindcompass\docs\slides\ai-api-system-architecture\assets\icons\browser-chrom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8682" y="2295144"/>
            <a:ext cx="395021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3856" y="259689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App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1133856" y="277063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/ Tailwind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36576" y="23408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146304" y="2048256"/>
            <a:ext cx="128016" cy="128016"/>
          </a:xfrm>
          <a:prstGeom prst="ellipse">
            <a:avLst/>
          </a:prstGeom>
          <a:solidFill>
            <a:srgbClr val="F0F4F4">
              <a:alpha val="0"/>
            </a:srgbClr>
          </a:solidFill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10312" y="2176272"/>
            <a:ext cx="0" cy="18288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035808" y="1755648"/>
            <a:ext cx="3584448" cy="2359152"/>
          </a:xfrm>
          <a:prstGeom prst="roundRect">
            <a:avLst>
              <a:gd name="adj" fmla="val 3101"/>
            </a:avLst>
          </a:prstGeom>
          <a:solidFill>
            <a:srgbClr val="FFFCF8"/>
          </a:solidFill>
          <a:ln w="10160">
            <a:solidFill>
              <a:srgbClr val="DAB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108960" y="1618488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FFF9EE"/>
          </a:solidFill>
          <a:ln w="10160">
            <a:solidFill>
              <a:srgbClr val="DAB9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163824" y="1659636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C72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API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3310128" y="2212848"/>
            <a:ext cx="768096" cy="621792"/>
          </a:xfrm>
          <a:prstGeom prst="roundRect">
            <a:avLst>
              <a:gd name="adj" fmla="val 11765"/>
            </a:avLst>
          </a:prstGeom>
          <a:solidFill>
            <a:srgbClr val="F4EEFF"/>
          </a:solidFill>
          <a:ln w="10160">
            <a:solidFill>
              <a:srgbClr val="CFC2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383280" y="267004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LB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3383280" y="284378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entry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4297680" y="2212848"/>
            <a:ext cx="768096" cy="621792"/>
          </a:xfrm>
          <a:prstGeom prst="roundRect">
            <a:avLst>
              <a:gd name="adj" fmla="val 11765"/>
            </a:avLst>
          </a:prstGeom>
          <a:solidFill>
            <a:srgbClr val="F3F5F6"/>
          </a:solidFill>
          <a:ln w="10160">
            <a:solidFill>
              <a:srgbClr val="CBD3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370832" y="267004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4370832" y="284378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5285232" y="1993392"/>
            <a:ext cx="1024128" cy="713232"/>
          </a:xfrm>
          <a:prstGeom prst="roundRect">
            <a:avLst>
              <a:gd name="adj" fmla="val 10256"/>
            </a:avLst>
          </a:prstGeom>
          <a:solidFill>
            <a:srgbClr val="EBF8EF"/>
          </a:solidFill>
          <a:ln w="10160">
            <a:solidFill>
              <a:srgbClr val="B8DA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5550408" y="2121408"/>
            <a:ext cx="493776" cy="274320"/>
          </a:xfrm>
          <a:prstGeom prst="roundRect">
            <a:avLst>
              <a:gd name="adj" fmla="val 10000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" descr="C:\programing\mindcompass\docs\slides\ai-api-system-architecture\assets\icons\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9786" y="2148840"/>
            <a:ext cx="395021" cy="21945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58384" y="245059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</a:t>
            </a:r>
            <a:endParaRPr lang="en-US" sz="920" dirty="0"/>
          </a:p>
        </p:txBody>
      </p:sp>
      <p:sp>
        <p:nvSpPr>
          <p:cNvPr id="34" name="Text 30"/>
          <p:cNvSpPr/>
          <p:nvPr/>
        </p:nvSpPr>
        <p:spPr>
          <a:xfrm>
            <a:off x="5358384" y="262432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 / Service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285232" y="2907792"/>
            <a:ext cx="1024128" cy="713232"/>
          </a:xfrm>
          <a:prstGeom prst="roundRect">
            <a:avLst>
              <a:gd name="adj" fmla="val 10256"/>
            </a:avLst>
          </a:prstGeom>
          <a:solidFill>
            <a:srgbClr val="E6F4F3"/>
          </a:solidFill>
          <a:ln w="10160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5550408" y="3035808"/>
            <a:ext cx="493776" cy="274320"/>
          </a:xfrm>
          <a:prstGeom prst="roundRect">
            <a:avLst>
              <a:gd name="adj" fmla="val 10000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2" descr="C:\programing\mindcompass\docs\slides\ai-api-system-architecture\assets\icons\spring-a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9786" y="3063240"/>
            <a:ext cx="395021" cy="21945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358384" y="336499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</a:t>
            </a:r>
            <a:endParaRPr lang="en-US" sz="920" dirty="0"/>
          </a:p>
        </p:txBody>
      </p:sp>
      <p:sp>
        <p:nvSpPr>
          <p:cNvPr id="39" name="Text 34"/>
          <p:cNvSpPr/>
          <p:nvPr/>
        </p:nvSpPr>
        <p:spPr>
          <a:xfrm>
            <a:off x="5358384" y="353872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inference</a:t>
            </a:r>
            <a:endParaRPr lang="en-US" sz="720" dirty="0"/>
          </a:p>
        </p:txBody>
      </p:sp>
      <p:sp>
        <p:nvSpPr>
          <p:cNvPr id="40" name="Shape 35"/>
          <p:cNvSpPr/>
          <p:nvPr/>
        </p:nvSpPr>
        <p:spPr>
          <a:xfrm>
            <a:off x="3310128" y="327355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EBF3FF"/>
          </a:solidFill>
          <a:ln w="10160">
            <a:solidFill>
              <a:srgbClr val="C7D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/>
          <p:nvPr/>
        </p:nvSpPr>
        <p:spPr>
          <a:xfrm>
            <a:off x="3383280" y="373075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  <a:endParaRPr lang="en-US" sz="830" dirty="0"/>
          </a:p>
        </p:txBody>
      </p:sp>
      <p:sp>
        <p:nvSpPr>
          <p:cNvPr id="42" name="Shape 37"/>
          <p:cNvSpPr/>
          <p:nvPr/>
        </p:nvSpPr>
        <p:spPr>
          <a:xfrm>
            <a:off x="4059936" y="327355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EBF3FF"/>
          </a:solidFill>
          <a:ln w="10160">
            <a:solidFill>
              <a:srgbClr val="C7D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4133088" y="373075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Diary</a:t>
            </a:r>
            <a:endParaRPr lang="en-US" sz="830" dirty="0"/>
          </a:p>
        </p:txBody>
      </p:sp>
      <p:sp>
        <p:nvSpPr>
          <p:cNvPr id="44" name="Shape 39"/>
          <p:cNvSpPr/>
          <p:nvPr/>
        </p:nvSpPr>
        <p:spPr>
          <a:xfrm>
            <a:off x="4809744" y="327355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EBF3FF"/>
          </a:solidFill>
          <a:ln w="10160">
            <a:solidFill>
              <a:srgbClr val="C7D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4882896" y="373075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</a:t>
            </a:r>
            <a:endParaRPr lang="en-US" sz="830" dirty="0"/>
          </a:p>
        </p:txBody>
      </p:sp>
      <p:sp>
        <p:nvSpPr>
          <p:cNvPr id="46" name="Shape 41"/>
          <p:cNvSpPr/>
          <p:nvPr/>
        </p:nvSpPr>
        <p:spPr>
          <a:xfrm>
            <a:off x="5559552" y="327355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EBF3FF"/>
          </a:solidFill>
          <a:ln w="10160">
            <a:solidFill>
              <a:srgbClr val="C7D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5632704" y="373075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</a:t>
            </a:r>
            <a:endParaRPr lang="en-US" sz="830" dirty="0"/>
          </a:p>
        </p:txBody>
      </p:sp>
      <p:sp>
        <p:nvSpPr>
          <p:cNvPr id="48" name="Shape 43"/>
          <p:cNvSpPr/>
          <p:nvPr/>
        </p:nvSpPr>
        <p:spPr>
          <a:xfrm>
            <a:off x="7242048" y="1792224"/>
            <a:ext cx="987552" cy="2011680"/>
          </a:xfrm>
          <a:prstGeom prst="roundRect">
            <a:avLst>
              <a:gd name="adj" fmla="val 7407"/>
            </a:avLst>
          </a:prstGeom>
          <a:solidFill>
            <a:srgbClr val="FFFCF8"/>
          </a:solidFill>
          <a:ln w="10160">
            <a:solidFill>
              <a:srgbClr val="DAB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4"/>
          <p:cNvSpPr/>
          <p:nvPr/>
        </p:nvSpPr>
        <p:spPr>
          <a:xfrm>
            <a:off x="7315200" y="1655064"/>
            <a:ext cx="950976" cy="219456"/>
          </a:xfrm>
          <a:prstGeom prst="roundRect">
            <a:avLst>
              <a:gd name="adj" fmla="val 12500"/>
            </a:avLst>
          </a:prstGeom>
          <a:solidFill>
            <a:srgbClr val="FFF9EE"/>
          </a:solidFill>
          <a:ln w="10160">
            <a:solidFill>
              <a:srgbClr val="DAB9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5"/>
          <p:cNvSpPr/>
          <p:nvPr/>
        </p:nvSpPr>
        <p:spPr>
          <a:xfrm>
            <a:off x="7370064" y="169621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C72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820" dirty="0"/>
          </a:p>
        </p:txBody>
      </p:sp>
      <p:sp>
        <p:nvSpPr>
          <p:cNvPr id="51" name="Shape 46"/>
          <p:cNvSpPr/>
          <p:nvPr/>
        </p:nvSpPr>
        <p:spPr>
          <a:xfrm>
            <a:off x="7370064" y="2121408"/>
            <a:ext cx="122529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7"/>
          <p:cNvSpPr/>
          <p:nvPr/>
        </p:nvSpPr>
        <p:spPr>
          <a:xfrm>
            <a:off x="7443216" y="2212848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C:\programing\mindcompass\docs\slides\ai-api-system-architecture\assets\icons\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8088" y="2228941"/>
            <a:ext cx="261153" cy="168981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808976" y="223113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860" dirty="0"/>
          </a:p>
        </p:txBody>
      </p:sp>
      <p:sp>
        <p:nvSpPr>
          <p:cNvPr id="55" name="Text 49"/>
          <p:cNvSpPr/>
          <p:nvPr/>
        </p:nvSpPr>
        <p:spPr>
          <a:xfrm>
            <a:off x="7808976" y="240487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/ diary / chat</a:t>
            </a:r>
            <a:endParaRPr lang="en-US" sz="680" dirty="0"/>
          </a:p>
        </p:txBody>
      </p:sp>
      <p:sp>
        <p:nvSpPr>
          <p:cNvPr id="56" name="Shape 50"/>
          <p:cNvSpPr/>
          <p:nvPr/>
        </p:nvSpPr>
        <p:spPr>
          <a:xfrm>
            <a:off x="7370064" y="2834640"/>
            <a:ext cx="122529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1"/>
          <p:cNvSpPr/>
          <p:nvPr/>
        </p:nvSpPr>
        <p:spPr>
          <a:xfrm>
            <a:off x="7443216" y="2926080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C:\programing\mindcompass\docs\slides\ai-api-system-architecture\assets\icons\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8088" y="2942173"/>
            <a:ext cx="261153" cy="168981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7808976" y="294436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</a:t>
            </a:r>
            <a:endParaRPr lang="en-US" sz="860" dirty="0"/>
          </a:p>
        </p:txBody>
      </p:sp>
      <p:sp>
        <p:nvSpPr>
          <p:cNvPr id="60" name="Text 53"/>
          <p:cNvSpPr/>
          <p:nvPr/>
        </p:nvSpPr>
        <p:spPr>
          <a:xfrm>
            <a:off x="7808976" y="311810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/ context</a:t>
            </a:r>
            <a:endParaRPr lang="en-US" sz="680" dirty="0"/>
          </a:p>
        </p:txBody>
      </p:sp>
      <p:sp>
        <p:nvSpPr>
          <p:cNvPr id="61" name="Shape 54"/>
          <p:cNvSpPr/>
          <p:nvPr/>
        </p:nvSpPr>
        <p:spPr>
          <a:xfrm>
            <a:off x="347472" y="2414016"/>
            <a:ext cx="493776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5"/>
          <p:cNvSpPr/>
          <p:nvPr/>
        </p:nvSpPr>
        <p:spPr>
          <a:xfrm>
            <a:off x="246888" y="2304288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endParaRPr lang="en-US" sz="740" dirty="0"/>
          </a:p>
        </p:txBody>
      </p:sp>
      <p:sp>
        <p:nvSpPr>
          <p:cNvPr id="63" name="Shape 56"/>
          <p:cNvSpPr/>
          <p:nvPr/>
        </p:nvSpPr>
        <p:spPr>
          <a:xfrm>
            <a:off x="2249424" y="2414016"/>
            <a:ext cx="1060704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7"/>
          <p:cNvSpPr/>
          <p:nvPr/>
        </p:nvSpPr>
        <p:spPr>
          <a:xfrm>
            <a:off x="2432304" y="2304288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740" dirty="0"/>
          </a:p>
        </p:txBody>
      </p:sp>
      <p:sp>
        <p:nvSpPr>
          <p:cNvPr id="65" name="Shape 58"/>
          <p:cNvSpPr/>
          <p:nvPr/>
        </p:nvSpPr>
        <p:spPr>
          <a:xfrm>
            <a:off x="4078224" y="2523744"/>
            <a:ext cx="219456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9"/>
          <p:cNvSpPr/>
          <p:nvPr/>
        </p:nvSpPr>
        <p:spPr>
          <a:xfrm>
            <a:off x="5065776" y="2523744"/>
            <a:ext cx="219456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0"/>
          <p:cNvSpPr/>
          <p:nvPr/>
        </p:nvSpPr>
        <p:spPr>
          <a:xfrm>
            <a:off x="5797296" y="2706624"/>
            <a:ext cx="0" cy="201168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1"/>
          <p:cNvSpPr/>
          <p:nvPr/>
        </p:nvSpPr>
        <p:spPr>
          <a:xfrm>
            <a:off x="5870448" y="2752344"/>
            <a:ext cx="768096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호출</a:t>
            </a:r>
            <a:endParaRPr lang="en-US" sz="740" dirty="0"/>
          </a:p>
        </p:txBody>
      </p:sp>
      <p:sp>
        <p:nvSpPr>
          <p:cNvPr id="69" name="Shape 62"/>
          <p:cNvSpPr/>
          <p:nvPr/>
        </p:nvSpPr>
        <p:spPr>
          <a:xfrm>
            <a:off x="6309360" y="2340864"/>
            <a:ext cx="1060704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3"/>
          <p:cNvSpPr/>
          <p:nvPr/>
        </p:nvSpPr>
        <p:spPr>
          <a:xfrm>
            <a:off x="6492240" y="2231136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740" dirty="0"/>
          </a:p>
        </p:txBody>
      </p:sp>
      <p:sp>
        <p:nvSpPr>
          <p:cNvPr id="71" name="Shape 64"/>
          <p:cNvSpPr/>
          <p:nvPr/>
        </p:nvSpPr>
        <p:spPr>
          <a:xfrm>
            <a:off x="6309360" y="3255264"/>
            <a:ext cx="1060704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5"/>
          <p:cNvSpPr/>
          <p:nvPr/>
        </p:nvSpPr>
        <p:spPr>
          <a:xfrm>
            <a:off x="6492240" y="3145536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740" dirty="0"/>
          </a:p>
        </p:txBody>
      </p:sp>
      <p:sp>
        <p:nvSpPr>
          <p:cNvPr id="73" name="Text 66"/>
          <p:cNvSpPr/>
          <p:nvPr/>
        </p:nvSpPr>
        <p:spPr>
          <a:xfrm>
            <a:off x="8741664" y="133502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1: 사용자 요청]</a:t>
            </a:r>
            <a:endParaRPr lang="en-US" sz="1240" dirty="0"/>
          </a:p>
        </p:txBody>
      </p:sp>
      <p:sp>
        <p:nvSpPr>
          <p:cNvPr id="74" name="Text 67"/>
          <p:cNvSpPr/>
          <p:nvPr/>
        </p:nvSpPr>
        <p:spPr>
          <a:xfrm>
            <a:off x="8814816" y="166420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웹 화면은 필요한 데이터만 REST 요청으로 backend-api에 보냅니다.</a:t>
            </a:r>
            <a:endParaRPr lang="en-US" sz="1000" dirty="0"/>
          </a:p>
        </p:txBody>
      </p:sp>
      <p:sp>
        <p:nvSpPr>
          <p:cNvPr id="75" name="Text 68"/>
          <p:cNvSpPr/>
          <p:nvPr/>
        </p:nvSpPr>
        <p:spPr>
          <a:xfrm>
            <a:off x="8814816" y="204825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클라이언트는 내부 AI 서버나 저장소 위치를 직접 알 필요가 없습니다.</a:t>
            </a:r>
            <a:endParaRPr lang="en-US" sz="1000" dirty="0"/>
          </a:p>
        </p:txBody>
      </p:sp>
      <p:sp>
        <p:nvSpPr>
          <p:cNvPr id="76" name="Text 69"/>
          <p:cNvSpPr/>
          <p:nvPr/>
        </p:nvSpPr>
        <p:spPr>
          <a:xfrm>
            <a:off x="8741664" y="26151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2: 공개 API 처리]</a:t>
            </a:r>
            <a:endParaRPr lang="en-US" sz="1240" dirty="0"/>
          </a:p>
        </p:txBody>
      </p:sp>
      <p:sp>
        <p:nvSpPr>
          <p:cNvPr id="77" name="Text 70"/>
          <p:cNvSpPr/>
          <p:nvPr/>
        </p:nvSpPr>
        <p:spPr>
          <a:xfrm>
            <a:off x="8814816" y="294436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Load Balancer와 Nginx가 트래픽을 받아 공개 API 요청을 backend-api로 전달합니다.</a:t>
            </a:r>
            <a:endParaRPr lang="en-US" sz="1000" dirty="0"/>
          </a:p>
        </p:txBody>
      </p:sp>
      <p:sp>
        <p:nvSpPr>
          <p:cNvPr id="78" name="Text 71"/>
          <p:cNvSpPr/>
          <p:nvPr/>
        </p:nvSpPr>
        <p:spPr>
          <a:xfrm>
            <a:off x="8814816" y="332841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backend-api가 인증, 권한, 도메인 규칙, 응답 DTO 조립을 담당합니다.</a:t>
            </a:r>
            <a:endParaRPr lang="en-US" sz="1000" dirty="0"/>
          </a:p>
        </p:txBody>
      </p:sp>
      <p:sp>
        <p:nvSpPr>
          <p:cNvPr id="79" name="Text 72"/>
          <p:cNvSpPr/>
          <p:nvPr/>
        </p:nvSpPr>
        <p:spPr>
          <a:xfrm>
            <a:off x="8741664" y="387705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3: 저장소와 내부 AI]</a:t>
            </a:r>
            <a:endParaRPr lang="en-US" sz="1240" dirty="0"/>
          </a:p>
        </p:txBody>
      </p:sp>
      <p:sp>
        <p:nvSpPr>
          <p:cNvPr id="80" name="Text 73"/>
          <p:cNvSpPr/>
          <p:nvPr/>
        </p:nvSpPr>
        <p:spPr>
          <a:xfrm>
            <a:off x="8814816" y="420624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정형 데이터는 PostgreSQL에 저장하고 검색/임베딩 컨텍스트는 pgvector를 활용합니다.</a:t>
            </a:r>
            <a:endParaRPr lang="en-US" sz="1000" dirty="0"/>
          </a:p>
        </p:txBody>
      </p:sp>
      <p:sp>
        <p:nvSpPr>
          <p:cNvPr id="81" name="Text 74"/>
          <p:cNvSpPr/>
          <p:nvPr/>
        </p:nvSpPr>
        <p:spPr>
          <a:xfrm>
            <a:off x="8814816" y="459028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AI가 필요한 요청만 내부 ai-api로 전달하므로 public boundary가 흔들리지 않습니다.</a:t>
            </a:r>
            <a:endParaRPr lang="en-US" sz="1000" dirty="0"/>
          </a:p>
        </p:txBody>
      </p:sp>
      <p:sp>
        <p:nvSpPr>
          <p:cNvPr id="82" name="Text 75"/>
          <p:cNvSpPr/>
          <p:nvPr/>
        </p:nvSpPr>
        <p:spPr>
          <a:xfrm>
            <a:off x="8741664" y="515721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4: 응답 반환]</a:t>
            </a:r>
            <a:endParaRPr lang="en-US" sz="1240" dirty="0"/>
          </a:p>
        </p:txBody>
      </p:sp>
      <p:sp>
        <p:nvSpPr>
          <p:cNvPr id="83" name="Text 76"/>
          <p:cNvSpPr/>
          <p:nvPr/>
        </p:nvSpPr>
        <p:spPr>
          <a:xfrm>
            <a:off x="8814816" y="548640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최종 응답은 항상 backend-api 계약으로 반환되어 프론트 변경 비용을 줄입니다.</a:t>
            </a:r>
            <a:endParaRPr lang="en-US" sz="1000" dirty="0"/>
          </a:p>
        </p:txBody>
      </p:sp>
      <p:sp>
        <p:nvSpPr>
          <p:cNvPr id="84" name="Text 77"/>
          <p:cNvSpPr/>
          <p:nvPr/>
        </p:nvSpPr>
        <p:spPr>
          <a:xfrm>
            <a:off x="8814816" y="587044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내부 AI 구조가 바뀌어도 외부 API 계약은 안정적으로 유지됩니다.</a:t>
            </a:r>
            <a:endParaRPr lang="en-US" sz="1000" dirty="0"/>
          </a:p>
        </p:txBody>
      </p:sp>
      <p:sp>
        <p:nvSpPr>
          <p:cNvPr id="85" name="Text 78"/>
          <p:cNvSpPr/>
          <p:nvPr/>
        </p:nvSpPr>
        <p:spPr>
          <a:xfrm>
            <a:off x="475488" y="6291072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메시지: backend-api 단일 공개 경계, 도메인별 서비스 분리, AI 계층의 내부화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0928D"/>
          </a:solidFill>
          <a:ln w="12700">
            <a:solidFill>
              <a:srgbClr val="1092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438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8961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저장, 안전 분기, RAG 컨텍스트, 답변 생성, 비교용 FastAPI 계층까지 연결한 내부 처리 흐름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22792" y="1225296"/>
            <a:ext cx="0" cy="5257800"/>
          </a:xfrm>
          <a:prstGeom prst="line">
            <a:avLst/>
          </a:prstGeom>
          <a:noFill/>
          <a:ln w="10160">
            <a:solidFill>
              <a:srgbClr val="C7D0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86384" y="1956816"/>
            <a:ext cx="1316736" cy="932688"/>
          </a:xfrm>
          <a:prstGeom prst="roundRect">
            <a:avLst>
              <a:gd name="adj" fmla="val 7843"/>
            </a:avLst>
          </a:prstGeom>
          <a:solidFill>
            <a:srgbClr val="FCFCFB"/>
          </a:solidFill>
          <a:ln w="10160">
            <a:solidFill>
              <a:srgbClr val="DAB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59536" y="1819656"/>
            <a:ext cx="841248" cy="219456"/>
          </a:xfrm>
          <a:prstGeom prst="roundRect">
            <a:avLst>
              <a:gd name="adj" fmla="val 12500"/>
            </a:avLst>
          </a:prstGeom>
          <a:solidFill>
            <a:srgbClr val="FFF9EE"/>
          </a:solidFill>
          <a:ln w="10160">
            <a:solidFill>
              <a:srgbClr val="DAB9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860804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C72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UI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87552" y="2139696"/>
            <a:ext cx="93268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C8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207008" y="2267712"/>
            <a:ext cx="493776" cy="274320"/>
          </a:xfrm>
          <a:prstGeom prst="roundRect">
            <a:avLst>
              <a:gd name="adj" fmla="val 10000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C:\programing\mindcompass\docs\slides\ai-api-system-architecture\assets\icons\browser-chrom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6386" y="2295144"/>
            <a:ext cx="395021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0704" y="259689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Screen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060704" y="277063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/ message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2487168" y="1755648"/>
            <a:ext cx="1865376" cy="270662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0160">
            <a:solidFill>
              <a:srgbClr val="CCD8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2560320" y="1618488"/>
            <a:ext cx="1042416" cy="219456"/>
          </a:xfrm>
          <a:prstGeom prst="roundRect">
            <a:avLst>
              <a:gd name="adj" fmla="val 12500"/>
            </a:avLst>
          </a:prstGeom>
          <a:solidFill>
            <a:srgbClr val="FFF9EE"/>
          </a:solidFill>
          <a:ln w="10160">
            <a:solidFill>
              <a:srgbClr val="DAB9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2615184" y="165963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C72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2779776" y="2048256"/>
            <a:ext cx="1298448" cy="658368"/>
          </a:xfrm>
          <a:prstGeom prst="roundRect">
            <a:avLst>
              <a:gd name="adj" fmla="val 11111"/>
            </a:avLst>
          </a:prstGeom>
          <a:solidFill>
            <a:srgbClr val="EBF8EF"/>
          </a:solidFill>
          <a:ln w="10160">
            <a:solidFill>
              <a:srgbClr val="B8DA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182112" y="2176272"/>
            <a:ext cx="493776" cy="274320"/>
          </a:xfrm>
          <a:prstGeom prst="roundRect">
            <a:avLst>
              <a:gd name="adj" fmla="val 10000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C:\programing\mindcompass\docs\slides\ai-api-system-architecture\assets\icons\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1490" y="2203704"/>
            <a:ext cx="395021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852928" y="25054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</a:t>
            </a:r>
            <a:endParaRPr lang="en-US" sz="920" dirty="0"/>
          </a:p>
        </p:txBody>
      </p:sp>
      <p:sp>
        <p:nvSpPr>
          <p:cNvPr id="25" name="Text 21"/>
          <p:cNvSpPr/>
          <p:nvPr/>
        </p:nvSpPr>
        <p:spPr>
          <a:xfrm>
            <a:off x="2852928" y="267919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ChatController / ChatService</a:t>
            </a:r>
            <a:endParaRPr lang="en-US" sz="720" dirty="0"/>
          </a:p>
        </p:txBody>
      </p:sp>
      <p:sp>
        <p:nvSpPr>
          <p:cNvPr id="26" name="Shape 22"/>
          <p:cNvSpPr/>
          <p:nvPr/>
        </p:nvSpPr>
        <p:spPr>
          <a:xfrm>
            <a:off x="2779776" y="2907792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BF3FF"/>
          </a:solidFill>
          <a:ln w="10160">
            <a:solidFill>
              <a:srgbClr val="C7D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2852928" y="336499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/ 메시지 저장</a:t>
            </a:r>
            <a:endParaRPr lang="en-US" sz="860" dirty="0"/>
          </a:p>
        </p:txBody>
      </p:sp>
      <p:sp>
        <p:nvSpPr>
          <p:cNvPr id="28" name="Text 24"/>
          <p:cNvSpPr/>
          <p:nvPr/>
        </p:nvSpPr>
        <p:spPr>
          <a:xfrm>
            <a:off x="2852928" y="3538728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2779776" y="365760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FF4E8"/>
          </a:solidFill>
          <a:ln w="10160">
            <a:solidFill>
              <a:srgbClr val="E2C1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/>
          <p:nvPr/>
        </p:nvSpPr>
        <p:spPr>
          <a:xfrm>
            <a:off x="2852928" y="4114800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 응답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2852928" y="4288536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실패 시 안전 문구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4681728" y="1755648"/>
            <a:ext cx="2176272" cy="2706624"/>
          </a:xfrm>
          <a:prstGeom prst="roundRect">
            <a:avLst>
              <a:gd name="adj" fmla="val 3361"/>
            </a:avLst>
          </a:prstGeom>
          <a:solidFill>
            <a:srgbClr val="FCFEFD"/>
          </a:solidFill>
          <a:ln w="10160">
            <a:solidFill>
              <a:srgbClr val="C8D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4754880" y="1618488"/>
            <a:ext cx="1170432" cy="219456"/>
          </a:xfrm>
          <a:prstGeom prst="roundRect">
            <a:avLst>
              <a:gd name="adj" fmla="val 12500"/>
            </a:avLst>
          </a:prstGeom>
          <a:solidFill>
            <a:srgbClr val="FFF9EE"/>
          </a:solidFill>
          <a:ln w="10160">
            <a:solidFill>
              <a:srgbClr val="DAB9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/>
          <p:nvPr/>
        </p:nvSpPr>
        <p:spPr>
          <a:xfrm>
            <a:off x="4809744" y="1659636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C72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PLATFORM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4974336" y="1993392"/>
            <a:ext cx="1591056" cy="603504"/>
          </a:xfrm>
          <a:prstGeom prst="roundRect">
            <a:avLst>
              <a:gd name="adj" fmla="val 12121"/>
            </a:avLst>
          </a:prstGeom>
          <a:solidFill>
            <a:srgbClr val="E6F4F3"/>
          </a:solidFill>
          <a:ln w="10160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5522976" y="2121408"/>
            <a:ext cx="493776" cy="274320"/>
          </a:xfrm>
          <a:prstGeom prst="roundRect">
            <a:avLst>
              <a:gd name="adj" fmla="val 10000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2" descr="C:\programing\mindcompass\docs\slides\ai-api-system-architecture\assets\icons\spring-a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354" y="2148840"/>
            <a:ext cx="395021" cy="21945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047488" y="245059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</a:t>
            </a:r>
            <a:endParaRPr lang="en-US" sz="920" dirty="0"/>
          </a:p>
        </p:txBody>
      </p:sp>
      <p:sp>
        <p:nvSpPr>
          <p:cNvPr id="39" name="Text 34"/>
          <p:cNvSpPr/>
          <p:nvPr/>
        </p:nvSpPr>
        <p:spPr>
          <a:xfrm>
            <a:off x="5047488" y="262432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 / Service orchestration</a:t>
            </a:r>
            <a:endParaRPr lang="en-US" sz="720" dirty="0"/>
          </a:p>
        </p:txBody>
      </p:sp>
      <p:sp>
        <p:nvSpPr>
          <p:cNvPr id="40" name="Shape 35"/>
          <p:cNvSpPr/>
          <p:nvPr/>
        </p:nvSpPr>
        <p:spPr>
          <a:xfrm>
            <a:off x="4974336" y="2852928"/>
            <a:ext cx="694944" cy="493776"/>
          </a:xfrm>
          <a:prstGeom prst="roundRect">
            <a:avLst>
              <a:gd name="adj" fmla="val 14815"/>
            </a:avLst>
          </a:prstGeom>
          <a:solidFill>
            <a:srgbClr val="FFF4E8"/>
          </a:solidFill>
          <a:ln w="10160">
            <a:solidFill>
              <a:srgbClr val="E2C1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/>
          <p:nvPr/>
        </p:nvSpPr>
        <p:spPr>
          <a:xfrm>
            <a:off x="5047488" y="33101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risk-score</a:t>
            </a:r>
            <a:endParaRPr lang="en-US" sz="810" dirty="0"/>
          </a:p>
        </p:txBody>
      </p:sp>
      <p:sp>
        <p:nvSpPr>
          <p:cNvPr id="42" name="Shape 37"/>
          <p:cNvSpPr/>
          <p:nvPr/>
        </p:nvSpPr>
        <p:spPr>
          <a:xfrm>
            <a:off x="5504688" y="2852928"/>
            <a:ext cx="694944" cy="493776"/>
          </a:xfrm>
          <a:prstGeom prst="roundRect">
            <a:avLst>
              <a:gd name="adj" fmla="val 14815"/>
            </a:avLst>
          </a:prstGeom>
          <a:solidFill>
            <a:srgbClr val="EBF3FF"/>
          </a:solidFill>
          <a:ln w="10160">
            <a:solidFill>
              <a:srgbClr val="C7D7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5577840" y="33101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830" dirty="0"/>
          </a:p>
        </p:txBody>
      </p:sp>
      <p:sp>
        <p:nvSpPr>
          <p:cNvPr id="44" name="Shape 39"/>
          <p:cNvSpPr/>
          <p:nvPr/>
        </p:nvSpPr>
        <p:spPr>
          <a:xfrm>
            <a:off x="6035040" y="2852928"/>
            <a:ext cx="694944" cy="493776"/>
          </a:xfrm>
          <a:prstGeom prst="roundRect">
            <a:avLst>
              <a:gd name="adj" fmla="val 14815"/>
            </a:avLst>
          </a:prstGeom>
          <a:solidFill>
            <a:srgbClr val="F4EEFF"/>
          </a:solidFill>
          <a:ln w="10160">
            <a:solidFill>
              <a:srgbClr val="D3C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6108192" y="33101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</a:t>
            </a:r>
            <a:endParaRPr lang="en-US" sz="830" dirty="0"/>
          </a:p>
        </p:txBody>
      </p:sp>
      <p:sp>
        <p:nvSpPr>
          <p:cNvPr id="46" name="Shape 41"/>
          <p:cNvSpPr/>
          <p:nvPr/>
        </p:nvSpPr>
        <p:spPr>
          <a:xfrm>
            <a:off x="5285232" y="3694176"/>
            <a:ext cx="969264" cy="512064"/>
          </a:xfrm>
          <a:prstGeom prst="roundRect">
            <a:avLst>
              <a:gd name="adj" fmla="val 14286"/>
            </a:avLst>
          </a:prstGeom>
          <a:solidFill>
            <a:srgbClr val="FFF9EE"/>
          </a:solidFill>
          <a:ln w="10160">
            <a:solidFill>
              <a:srgbClr val="DAB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2"/>
          <p:cNvSpPr/>
          <p:nvPr/>
        </p:nvSpPr>
        <p:spPr>
          <a:xfrm>
            <a:off x="5522976" y="3822192"/>
            <a:ext cx="493776" cy="274320"/>
          </a:xfrm>
          <a:prstGeom prst="roundRect">
            <a:avLst>
              <a:gd name="adj" fmla="val 10000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3" descr="C:\programing\mindcompass\docs\slides\ai-api-system-architecture\assets\icons\fastap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2354" y="3849624"/>
            <a:ext cx="395021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358384" y="41513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ai-api-fastapi</a:t>
            </a:r>
            <a:endParaRPr lang="en-US" sz="780" dirty="0"/>
          </a:p>
        </p:txBody>
      </p:sp>
      <p:sp>
        <p:nvSpPr>
          <p:cNvPr id="50" name="Shape 44"/>
          <p:cNvSpPr/>
          <p:nvPr/>
        </p:nvSpPr>
        <p:spPr>
          <a:xfrm>
            <a:off x="7205472" y="1755648"/>
            <a:ext cx="1024128" cy="2706624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0160">
            <a:solidFill>
              <a:srgbClr val="DAB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5"/>
          <p:cNvSpPr/>
          <p:nvPr/>
        </p:nvSpPr>
        <p:spPr>
          <a:xfrm>
            <a:off x="7278624" y="1618488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FFF9EE"/>
          </a:solidFill>
          <a:ln w="10160">
            <a:solidFill>
              <a:srgbClr val="DAB9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6"/>
          <p:cNvSpPr/>
          <p:nvPr/>
        </p:nvSpPr>
        <p:spPr>
          <a:xfrm>
            <a:off x="7333488" y="1659636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C72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</a:t>
            </a:r>
            <a:endParaRPr lang="en-US" sz="820" dirty="0"/>
          </a:p>
        </p:txBody>
      </p:sp>
      <p:sp>
        <p:nvSpPr>
          <p:cNvPr id="53" name="Shape 47"/>
          <p:cNvSpPr/>
          <p:nvPr/>
        </p:nvSpPr>
        <p:spPr>
          <a:xfrm>
            <a:off x="7351776" y="1993392"/>
            <a:ext cx="122529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8"/>
          <p:cNvSpPr/>
          <p:nvPr/>
        </p:nvSpPr>
        <p:spPr>
          <a:xfrm>
            <a:off x="7424928" y="2084832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4" descr="C:\programing\mindcompass\docs\slides\ai-api-system-architecture\assets\icons\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9800" y="2100925"/>
            <a:ext cx="261153" cy="168981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7790688" y="21031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</a:t>
            </a:r>
            <a:endParaRPr lang="en-US" sz="860" dirty="0"/>
          </a:p>
        </p:txBody>
      </p:sp>
      <p:sp>
        <p:nvSpPr>
          <p:cNvPr id="57" name="Text 50"/>
          <p:cNvSpPr/>
          <p:nvPr/>
        </p:nvSpPr>
        <p:spPr>
          <a:xfrm>
            <a:off x="7790688" y="2276856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/ 임베딩</a:t>
            </a:r>
            <a:endParaRPr lang="en-US" sz="680" dirty="0"/>
          </a:p>
        </p:txBody>
      </p:sp>
      <p:sp>
        <p:nvSpPr>
          <p:cNvPr id="58" name="Shape 51"/>
          <p:cNvSpPr/>
          <p:nvPr/>
        </p:nvSpPr>
        <p:spPr>
          <a:xfrm>
            <a:off x="7351776" y="2706624"/>
            <a:ext cx="122529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2"/>
          <p:cNvSpPr/>
          <p:nvPr/>
        </p:nvSpPr>
        <p:spPr>
          <a:xfrm>
            <a:off x="7424928" y="2798064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5" descr="C:\programing\mindcompass\docs\slides\ai-api-system-architecture\assets\icons\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9800" y="2814157"/>
            <a:ext cx="261153" cy="168981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7790688" y="281635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DB</a:t>
            </a:r>
            <a:endParaRPr lang="en-US" sz="860" dirty="0"/>
          </a:p>
        </p:txBody>
      </p:sp>
      <p:sp>
        <p:nvSpPr>
          <p:cNvPr id="62" name="Text 54"/>
          <p:cNvSpPr/>
          <p:nvPr/>
        </p:nvSpPr>
        <p:spPr>
          <a:xfrm>
            <a:off x="7790688" y="2990088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/ diary</a:t>
            </a:r>
            <a:endParaRPr lang="en-US" sz="680" dirty="0"/>
          </a:p>
        </p:txBody>
      </p:sp>
      <p:sp>
        <p:nvSpPr>
          <p:cNvPr id="63" name="Shape 55"/>
          <p:cNvSpPr/>
          <p:nvPr/>
        </p:nvSpPr>
        <p:spPr>
          <a:xfrm>
            <a:off x="7351776" y="3419856"/>
            <a:ext cx="122529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6"/>
          <p:cNvSpPr/>
          <p:nvPr/>
        </p:nvSpPr>
        <p:spPr>
          <a:xfrm>
            <a:off x="7424928" y="3511296"/>
            <a:ext cx="310896" cy="201168"/>
          </a:xfrm>
          <a:prstGeom prst="roundRect">
            <a:avLst>
              <a:gd name="adj" fmla="val 13636"/>
            </a:avLst>
          </a:prstGeom>
          <a:solidFill>
            <a:srgbClr val="FCFEFE"/>
          </a:solidFill>
          <a:ln w="10160">
            <a:solidFill>
              <a:srgbClr val="D8E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6" descr="C:\programing\mindcompass\docs\slides\ai-api-system-architecture\assets\icons\opena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9800" y="3527389"/>
            <a:ext cx="261153" cy="168981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7790688" y="352958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860" dirty="0"/>
          </a:p>
        </p:txBody>
      </p:sp>
      <p:sp>
        <p:nvSpPr>
          <p:cNvPr id="67" name="Text 58"/>
          <p:cNvSpPr/>
          <p:nvPr/>
        </p:nvSpPr>
        <p:spPr>
          <a:xfrm>
            <a:off x="7790688" y="370332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B68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provider</a:t>
            </a:r>
            <a:endParaRPr lang="en-US" sz="680" dirty="0"/>
          </a:p>
        </p:txBody>
      </p:sp>
      <p:sp>
        <p:nvSpPr>
          <p:cNvPr id="68" name="Shape 59"/>
          <p:cNvSpPr/>
          <p:nvPr/>
        </p:nvSpPr>
        <p:spPr>
          <a:xfrm>
            <a:off x="2103120" y="2395728"/>
            <a:ext cx="676656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0"/>
          <p:cNvSpPr/>
          <p:nvPr/>
        </p:nvSpPr>
        <p:spPr>
          <a:xfrm>
            <a:off x="2093976" y="2286000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전송</a:t>
            </a:r>
            <a:endParaRPr lang="en-US" sz="740" dirty="0"/>
          </a:p>
        </p:txBody>
      </p:sp>
      <p:sp>
        <p:nvSpPr>
          <p:cNvPr id="70" name="Shape 61"/>
          <p:cNvSpPr/>
          <p:nvPr/>
        </p:nvSpPr>
        <p:spPr>
          <a:xfrm>
            <a:off x="4078224" y="2395728"/>
            <a:ext cx="896112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2"/>
          <p:cNvSpPr/>
          <p:nvPr/>
        </p:nvSpPr>
        <p:spPr>
          <a:xfrm>
            <a:off x="4178808" y="2286000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AI 호출</a:t>
            </a:r>
            <a:endParaRPr lang="en-US" sz="740" dirty="0"/>
          </a:p>
        </p:txBody>
      </p:sp>
      <p:sp>
        <p:nvSpPr>
          <p:cNvPr id="72" name="Shape 63"/>
          <p:cNvSpPr/>
          <p:nvPr/>
        </p:nvSpPr>
        <p:spPr>
          <a:xfrm>
            <a:off x="3429000" y="2706624"/>
            <a:ext cx="0" cy="201168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4"/>
          <p:cNvSpPr/>
          <p:nvPr/>
        </p:nvSpPr>
        <p:spPr>
          <a:xfrm>
            <a:off x="3493008" y="2752344"/>
            <a:ext cx="768096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740" dirty="0"/>
          </a:p>
        </p:txBody>
      </p:sp>
      <p:sp>
        <p:nvSpPr>
          <p:cNvPr id="74" name="Shape 65"/>
          <p:cNvSpPr/>
          <p:nvPr/>
        </p:nvSpPr>
        <p:spPr>
          <a:xfrm>
            <a:off x="5760720" y="2596896"/>
            <a:ext cx="0" cy="256032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66"/>
          <p:cNvSpPr/>
          <p:nvPr/>
        </p:nvSpPr>
        <p:spPr>
          <a:xfrm>
            <a:off x="5797296" y="2670048"/>
            <a:ext cx="768096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분기</a:t>
            </a:r>
            <a:endParaRPr lang="en-US" sz="740" dirty="0"/>
          </a:p>
        </p:txBody>
      </p:sp>
      <p:sp>
        <p:nvSpPr>
          <p:cNvPr id="76" name="Shape 67"/>
          <p:cNvSpPr/>
          <p:nvPr/>
        </p:nvSpPr>
        <p:spPr>
          <a:xfrm>
            <a:off x="5760720" y="3346704"/>
            <a:ext cx="0" cy="347472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8"/>
          <p:cNvSpPr/>
          <p:nvPr/>
        </p:nvSpPr>
        <p:spPr>
          <a:xfrm>
            <a:off x="5815584" y="3465576"/>
            <a:ext cx="768096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모델</a:t>
            </a:r>
            <a:endParaRPr lang="en-US" sz="740" dirty="0"/>
          </a:p>
        </p:txBody>
      </p:sp>
      <p:sp>
        <p:nvSpPr>
          <p:cNvPr id="78" name="Shape 69"/>
          <p:cNvSpPr/>
          <p:nvPr/>
        </p:nvSpPr>
        <p:spPr>
          <a:xfrm>
            <a:off x="5669280" y="3090672"/>
            <a:ext cx="1682496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0"/>
          <p:cNvSpPr/>
          <p:nvPr/>
        </p:nvSpPr>
        <p:spPr>
          <a:xfrm>
            <a:off x="6163056" y="2980944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</a:t>
            </a:r>
            <a:endParaRPr lang="en-US" sz="740" dirty="0"/>
          </a:p>
        </p:txBody>
      </p:sp>
      <p:sp>
        <p:nvSpPr>
          <p:cNvPr id="80" name="Shape 71"/>
          <p:cNvSpPr/>
          <p:nvPr/>
        </p:nvSpPr>
        <p:spPr>
          <a:xfrm>
            <a:off x="6199632" y="3090672"/>
            <a:ext cx="1152144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2"/>
          <p:cNvSpPr/>
          <p:nvPr/>
        </p:nvSpPr>
        <p:spPr>
          <a:xfrm>
            <a:off x="6428232" y="3255264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</a:t>
            </a:r>
            <a:endParaRPr lang="en-US" sz="740" dirty="0"/>
          </a:p>
        </p:txBody>
      </p:sp>
      <p:sp>
        <p:nvSpPr>
          <p:cNvPr id="82" name="Shape 73"/>
          <p:cNvSpPr/>
          <p:nvPr/>
        </p:nvSpPr>
        <p:spPr>
          <a:xfrm>
            <a:off x="6729984" y="3090672"/>
            <a:ext cx="621792" cy="0"/>
          </a:xfrm>
          <a:prstGeom prst="line">
            <a:avLst/>
          </a:prstGeom>
          <a:noFill/>
          <a:ln w="11430">
            <a:solidFill>
              <a:srgbClr val="7E8E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4"/>
          <p:cNvSpPr/>
          <p:nvPr/>
        </p:nvSpPr>
        <p:spPr>
          <a:xfrm>
            <a:off x="6693408" y="3529584"/>
            <a:ext cx="694944" cy="109728"/>
          </a:xfrm>
          <a:prstGeom prst="rect">
            <a:avLst/>
          </a:prstGeom>
          <a:solidFill>
            <a:srgbClr val="F8FAFA">
              <a:alpha val="9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740" dirty="0"/>
          </a:p>
        </p:txBody>
      </p:sp>
      <p:sp>
        <p:nvSpPr>
          <p:cNvPr id="84" name="Text 75"/>
          <p:cNvSpPr/>
          <p:nvPr/>
        </p:nvSpPr>
        <p:spPr>
          <a:xfrm>
            <a:off x="8741664" y="133502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1: 입력과 안전 분기]</a:t>
            </a:r>
            <a:endParaRPr lang="en-US" sz="1240" dirty="0"/>
          </a:p>
        </p:txBody>
      </p:sp>
      <p:sp>
        <p:nvSpPr>
          <p:cNvPr id="85" name="Text 76"/>
          <p:cNvSpPr/>
          <p:nvPr/>
        </p:nvSpPr>
        <p:spPr>
          <a:xfrm>
            <a:off x="8814816" y="166420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채팅 입력은 backend-api에서 세션 권한과 요청 형식을 먼저 확인합니다.</a:t>
            </a:r>
            <a:endParaRPr lang="en-US" sz="1000" dirty="0"/>
          </a:p>
        </p:txBody>
      </p:sp>
      <p:sp>
        <p:nvSpPr>
          <p:cNvPr id="86" name="Text 77"/>
          <p:cNvSpPr/>
          <p:nvPr/>
        </p:nvSpPr>
        <p:spPr>
          <a:xfrm>
            <a:off x="8814816" y="204825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ai-api는 risk-score를 우선 실행해 SUPPORTIVE, SAFETY, FALLBACK 분기를 결정합니다.</a:t>
            </a:r>
            <a:endParaRPr lang="en-US" sz="1000" dirty="0"/>
          </a:p>
        </p:txBody>
      </p:sp>
      <p:sp>
        <p:nvSpPr>
          <p:cNvPr id="87" name="Text 78"/>
          <p:cNvSpPr/>
          <p:nvPr/>
        </p:nvSpPr>
        <p:spPr>
          <a:xfrm>
            <a:off x="8741664" y="26700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2: 컨텍스트 수집]</a:t>
            </a:r>
            <a:endParaRPr lang="en-US" sz="1240" dirty="0"/>
          </a:p>
        </p:txBody>
      </p:sp>
      <p:sp>
        <p:nvSpPr>
          <p:cNvPr id="88" name="Text 79"/>
          <p:cNvSpPr/>
          <p:nvPr/>
        </p:nvSpPr>
        <p:spPr>
          <a:xfrm>
            <a:off x="8814816" y="299923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RAG 단계에서 pgvector와 대화 이력을 함께 조회해 답변 컨텍스트를 조립합니다.</a:t>
            </a:r>
            <a:endParaRPr lang="en-US" sz="1000" dirty="0"/>
          </a:p>
        </p:txBody>
      </p:sp>
      <p:sp>
        <p:nvSpPr>
          <p:cNvPr id="89" name="Text 80"/>
          <p:cNvSpPr/>
          <p:nvPr/>
        </p:nvSpPr>
        <p:spPr>
          <a:xfrm>
            <a:off x="8814816" y="33832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필요하면 ai-api-fastapi를 비교용 모델 서버로 호출해 실험 경로를 유지합니다.</a:t>
            </a:r>
            <a:endParaRPr lang="en-US" sz="1000" dirty="0"/>
          </a:p>
        </p:txBody>
      </p:sp>
      <p:sp>
        <p:nvSpPr>
          <p:cNvPr id="90" name="Text 81"/>
          <p:cNvSpPr/>
          <p:nvPr/>
        </p:nvSpPr>
        <p:spPr>
          <a:xfrm>
            <a:off x="8741664" y="398678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3: 답변 생성]</a:t>
            </a:r>
            <a:endParaRPr lang="en-US" sz="1240" dirty="0"/>
          </a:p>
        </p:txBody>
      </p:sp>
      <p:sp>
        <p:nvSpPr>
          <p:cNvPr id="91" name="Text 82"/>
          <p:cNvSpPr/>
          <p:nvPr/>
        </p:nvSpPr>
        <p:spPr>
          <a:xfrm>
            <a:off x="8814816" y="431596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reply 단계가 안전 분기 결과와 검색 컨텍스트를 묶어 최종 응답을 생성합니다.</a:t>
            </a:r>
            <a:endParaRPr lang="en-US" sz="1000" dirty="0"/>
          </a:p>
        </p:txBody>
      </p:sp>
      <p:sp>
        <p:nvSpPr>
          <p:cNvPr id="92" name="Text 83"/>
          <p:cNvSpPr/>
          <p:nvPr/>
        </p:nvSpPr>
        <p:spPr>
          <a:xfrm>
            <a:off x="8814816" y="470001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채팅 로그는 backend-api를 통해 저장되어 이후 개인화와 리포트에 다시 활용됩니다.</a:t>
            </a:r>
            <a:endParaRPr lang="en-US" sz="1000" dirty="0"/>
          </a:p>
        </p:txBody>
      </p:sp>
      <p:sp>
        <p:nvSpPr>
          <p:cNvPr id="93" name="Text 84"/>
          <p:cNvSpPr/>
          <p:nvPr/>
        </p:nvSpPr>
        <p:spPr>
          <a:xfrm>
            <a:off x="8741664" y="53035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4: fallback 전략]</a:t>
            </a:r>
            <a:endParaRPr lang="en-US" sz="1240" dirty="0"/>
          </a:p>
        </p:txBody>
      </p:sp>
      <p:sp>
        <p:nvSpPr>
          <p:cNvPr id="94" name="Text 85"/>
          <p:cNvSpPr/>
          <p:nvPr/>
        </p:nvSpPr>
        <p:spPr>
          <a:xfrm>
            <a:off x="8814816" y="563270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LLM이나 내부 AI가 실패해도 전체 대화 흐름은 fallback 응답으로 유지됩니다.</a:t>
            </a:r>
            <a:endParaRPr lang="en-US" sz="1000" dirty="0"/>
          </a:p>
        </p:txBody>
      </p:sp>
      <p:sp>
        <p:nvSpPr>
          <p:cNvPr id="95" name="Text 86"/>
          <p:cNvSpPr/>
          <p:nvPr/>
        </p:nvSpPr>
        <p:spPr>
          <a:xfrm>
            <a:off x="8814816" y="60167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클라이언트는 언제나 동일한 backend-api 응답 계약만 바라보면 됩니다.</a:t>
            </a:r>
            <a:endParaRPr lang="en-US" sz="1000" dirty="0"/>
          </a:p>
        </p:txBody>
      </p:sp>
      <p:sp>
        <p:nvSpPr>
          <p:cNvPr id="96" name="Text 87"/>
          <p:cNvSpPr/>
          <p:nvPr/>
        </p:nvSpPr>
        <p:spPr>
          <a:xfrm>
            <a:off x="475488" y="6291072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메시지: safety-first 분기, RAG 기반 맥락화, AI 실패에도 끊기지 않는 챗봇 흐름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460</Words>
  <Application>Microsoft Office PowerPoint</Application>
  <PresentationFormat>와이드스크린</PresentationFormat>
  <Paragraphs>91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Company>Mind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Compass System Architecture</dc:title>
  <dc:subject>Mind Compass architecture deck</dc:subject>
  <dc:creator>OpenAI Codex</dc:creator>
  <cp:lastModifiedBy>qag</cp:lastModifiedBy>
  <cp:revision>2</cp:revision>
  <dcterms:created xsi:type="dcterms:W3CDTF">2026-03-28T15:18:02Z</dcterms:created>
  <dcterms:modified xsi:type="dcterms:W3CDTF">2026-03-28T15:33:40Z</dcterms:modified>
</cp:coreProperties>
</file>