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182880"/>
          </a:xfrm>
          <a:prstGeom prst="rect">
            <a:avLst/>
          </a:prstGeom>
          <a:solidFill>
            <a:srgbClr val="22A6A8"/>
          </a:solidFill>
          <a:ln w="12700">
            <a:solidFill>
              <a:srgbClr val="22A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937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10789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기록부터 AI 상담까지 이어지는 웹 서비스와 AI 계층 구조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9921240" y="530352"/>
            <a:ext cx="201168" cy="201168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14432" y="530352"/>
            <a:ext cx="201168" cy="201168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07624" y="53035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72768"/>
            <a:ext cx="72237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572768"/>
            <a:ext cx="7223760" cy="54864"/>
          </a:xfrm>
          <a:prstGeom prst="rect">
            <a:avLst/>
          </a:prstGeom>
          <a:solidFill>
            <a:srgbClr val="D9F3F4"/>
          </a:solidFill>
          <a:ln w="12700">
            <a:solidFill>
              <a:srgbClr val="D9F3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682496"/>
            <a:ext cx="1024128" cy="219456"/>
          </a:xfrm>
          <a:prstGeom prst="roundRect">
            <a:avLst>
              <a:gd name="adj" fmla="val 12500"/>
            </a:avLst>
          </a:prstGeom>
          <a:solidFill>
            <a:srgbClr val="FFFDFA"/>
          </a:solidFill>
          <a:ln w="10160">
            <a:solidFill>
              <a:srgbClr val="D9C1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190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560320" y="1682496"/>
            <a:ext cx="1353312" cy="219456"/>
          </a:xfrm>
          <a:prstGeom prst="roundRect">
            <a:avLst>
              <a:gd name="adj" fmla="val 12500"/>
            </a:avLst>
          </a:prstGeom>
          <a:solidFill>
            <a:srgbClr val="FFFDFA"/>
          </a:solidFill>
          <a:ln w="10160">
            <a:solidFill>
              <a:srgbClr val="D9C1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171907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PLATFORM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1024128" cy="219456"/>
          </a:xfrm>
          <a:prstGeom prst="roundRect">
            <a:avLst>
              <a:gd name="adj" fmla="val 12500"/>
            </a:avLst>
          </a:prstGeom>
          <a:solidFill>
            <a:srgbClr val="FFFDFA"/>
          </a:solidFill>
          <a:ln w="10160">
            <a:solidFill>
              <a:srgbClr val="D9C1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351129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914400" y="1901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9536" y="2139696"/>
            <a:ext cx="1170432" cy="1078992"/>
          </a:xfrm>
          <a:prstGeom prst="roundRect">
            <a:avLst>
              <a:gd name="adj" fmla="val 6780"/>
            </a:avLst>
          </a:prstGeom>
          <a:solidFill>
            <a:srgbClr val="E6F8F8"/>
          </a:solidFill>
          <a:ln w="12700">
            <a:solidFill>
              <a:srgbClr val="BC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2286000"/>
            <a:ext cx="585216" cy="347472"/>
          </a:xfrm>
          <a:prstGeom prst="roundRect">
            <a:avLst>
              <a:gd name="adj" fmla="val 7895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19" name="Image 0" descr="C:\programing\mindcompass\docs\slides\ai-api-system-architecture\assets\icons\browser-chro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4930" y="2334646"/>
            <a:ext cx="421356" cy="2501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14400" y="26700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Responsive Web</a:t>
            </a:r>
            <a:endParaRPr lang="en-US" sz="1030" dirty="0"/>
          </a:p>
        </p:txBody>
      </p:sp>
      <p:sp>
        <p:nvSpPr>
          <p:cNvPr id="21" name="Text 18"/>
          <p:cNvSpPr/>
          <p:nvPr/>
        </p:nvSpPr>
        <p:spPr>
          <a:xfrm>
            <a:off x="877824" y="3017520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기반 웹 화면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2395728" y="1810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212848" y="2048256"/>
            <a:ext cx="1389888" cy="1243584"/>
          </a:xfrm>
          <a:prstGeom prst="roundRect">
            <a:avLst>
              <a:gd name="adj" fmla="val 5882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96896" y="2212848"/>
            <a:ext cx="621792" cy="347472"/>
          </a:xfrm>
          <a:prstGeom prst="roundRect">
            <a:avLst>
              <a:gd name="adj" fmla="val 7895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25" name="Image 1" descr="C:\programing\mindcompass\docs\slides\ai-api-system-architecture\assets\icons\spring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3947" y="2261494"/>
            <a:ext cx="447690" cy="2501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359152" y="26700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public API</a:t>
            </a:r>
            <a:endParaRPr lang="en-US" sz="1030" dirty="0"/>
          </a:p>
        </p:txBody>
      </p:sp>
      <p:sp>
        <p:nvSpPr>
          <p:cNvPr id="27" name="Text 23"/>
          <p:cNvSpPr/>
          <p:nvPr/>
        </p:nvSpPr>
        <p:spPr>
          <a:xfrm>
            <a:off x="2304288" y="288950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· Diary · Calendar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· Report · Save</a:t>
            </a:r>
            <a:endParaRPr lang="en-US" sz="820" dirty="0"/>
          </a:p>
        </p:txBody>
      </p:sp>
      <p:sp>
        <p:nvSpPr>
          <p:cNvPr id="28" name="Text 24"/>
          <p:cNvSpPr/>
          <p:nvPr/>
        </p:nvSpPr>
        <p:spPr>
          <a:xfrm>
            <a:off x="3968496" y="1810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3785616" y="2048256"/>
            <a:ext cx="1389888" cy="1243584"/>
          </a:xfrm>
          <a:prstGeom prst="roundRect">
            <a:avLst>
              <a:gd name="adj" fmla="val 5882"/>
            </a:avLst>
          </a:prstGeom>
          <a:solidFill>
            <a:srgbClr val="EAF8EF"/>
          </a:solidFill>
          <a:ln w="12700">
            <a:solidFill>
              <a:srgbClr val="CFEAD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169664" y="2212848"/>
            <a:ext cx="621792" cy="347472"/>
          </a:xfrm>
          <a:prstGeom prst="roundRect">
            <a:avLst>
              <a:gd name="adj" fmla="val 7895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31" name="Image 2" descr="C:\programing\mindcompass\docs\slides\ai-api-system-architecture\assets\icons\spring-ai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0754" y="2230222"/>
            <a:ext cx="559613" cy="31272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931920" y="2670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Orchestrator</a:t>
            </a:r>
            <a:endParaRPr lang="en-US" sz="1040" dirty="0"/>
          </a:p>
        </p:txBody>
      </p:sp>
      <p:sp>
        <p:nvSpPr>
          <p:cNvPr id="33" name="Text 28"/>
          <p:cNvSpPr/>
          <p:nvPr/>
        </p:nvSpPr>
        <p:spPr>
          <a:xfrm>
            <a:off x="3858768" y="288950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· Memory · RAG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· Fallback · Compose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5504688" y="181051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ai-api-fastapi</a:t>
            </a:r>
            <a:endParaRPr lang="en-US" sz="1340" dirty="0"/>
          </a:p>
        </p:txBody>
      </p:sp>
      <p:sp>
        <p:nvSpPr>
          <p:cNvPr id="35" name="Shape 30"/>
          <p:cNvSpPr/>
          <p:nvPr/>
        </p:nvSpPr>
        <p:spPr>
          <a:xfrm>
            <a:off x="5358384" y="2048256"/>
            <a:ext cx="1389888" cy="1243584"/>
          </a:xfrm>
          <a:prstGeom prst="roundRect">
            <a:avLst>
              <a:gd name="adj" fmla="val 5882"/>
            </a:avLst>
          </a:prstGeom>
          <a:solidFill>
            <a:srgbClr val="FFF3E4"/>
          </a:solidFill>
          <a:ln w="12700">
            <a:solidFill>
              <a:srgbClr val="F5D7AE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742432" y="2212848"/>
            <a:ext cx="585216" cy="347472"/>
          </a:xfrm>
          <a:prstGeom prst="roundRect">
            <a:avLst>
              <a:gd name="adj" fmla="val 7895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37" name="Image 3" descr="C:\programing\mindcompass\docs\slides\ai-api-system-architecture\assets\icons\pytorch-fastapi-combo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5841" y="2226747"/>
            <a:ext cx="538399" cy="31967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486400" y="267004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Emotion Model API</a:t>
            </a:r>
            <a:endParaRPr lang="en-US" sz="1030" dirty="0"/>
          </a:p>
        </p:txBody>
      </p:sp>
      <p:sp>
        <p:nvSpPr>
          <p:cNvPr id="39" name="Text 33"/>
          <p:cNvSpPr/>
          <p:nvPr/>
        </p:nvSpPr>
        <p:spPr>
          <a:xfrm>
            <a:off x="5468112" y="288950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emotion classify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versioning · threshold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6437376" y="3694176"/>
            <a:ext cx="135331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528816" y="3794760"/>
            <a:ext cx="329184" cy="219456"/>
          </a:xfrm>
          <a:prstGeom prst="roundRect">
            <a:avLst>
              <a:gd name="adj" fmla="val 12500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42" name="Image 4" descr="C:\programing\mindcompass\docs\slides\ai-api-system-architecture\assets\icons\postgresql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8443" y="3814511"/>
            <a:ext cx="269931" cy="17995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931152" y="380390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880" dirty="0"/>
          </a:p>
        </p:txBody>
      </p:sp>
      <p:sp>
        <p:nvSpPr>
          <p:cNvPr id="44" name="Text 37"/>
          <p:cNvSpPr/>
          <p:nvPr/>
        </p:nvSpPr>
        <p:spPr>
          <a:xfrm>
            <a:off x="6931152" y="397764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서비스 저장</a:t>
            </a:r>
            <a:endParaRPr lang="en-US" sz="710" dirty="0"/>
          </a:p>
        </p:txBody>
      </p:sp>
      <p:sp>
        <p:nvSpPr>
          <p:cNvPr id="45" name="Shape 38"/>
          <p:cNvSpPr/>
          <p:nvPr/>
        </p:nvSpPr>
        <p:spPr>
          <a:xfrm>
            <a:off x="6437376" y="4370832"/>
            <a:ext cx="135331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528816" y="4471416"/>
            <a:ext cx="329184" cy="219456"/>
          </a:xfrm>
          <a:prstGeom prst="roundRect">
            <a:avLst>
              <a:gd name="adj" fmla="val 12500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47" name="Image 5" descr="C:\programing\mindcompass\docs\slides\ai-api-system-architecture\assets\icons\postgresql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58443" y="4491167"/>
            <a:ext cx="269931" cy="179954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931152" y="448056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</a:t>
            </a:r>
            <a:endParaRPr lang="en-US" sz="880" dirty="0"/>
          </a:p>
        </p:txBody>
      </p:sp>
      <p:sp>
        <p:nvSpPr>
          <p:cNvPr id="49" name="Text 41"/>
          <p:cNvSpPr/>
          <p:nvPr/>
        </p:nvSpPr>
        <p:spPr>
          <a:xfrm>
            <a:off x="6931152" y="4654296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문맥 검색</a:t>
            </a:r>
            <a:endParaRPr lang="en-US" sz="710" dirty="0"/>
          </a:p>
        </p:txBody>
      </p:sp>
      <p:sp>
        <p:nvSpPr>
          <p:cNvPr id="50" name="Shape 42"/>
          <p:cNvSpPr/>
          <p:nvPr/>
        </p:nvSpPr>
        <p:spPr>
          <a:xfrm>
            <a:off x="6437376" y="5047488"/>
            <a:ext cx="1353312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6528816" y="5148072"/>
            <a:ext cx="329184" cy="219456"/>
          </a:xfrm>
          <a:prstGeom prst="roundRect">
            <a:avLst>
              <a:gd name="adj" fmla="val 12500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52" name="Image 6" descr="C:\programing\mindcompass\docs\slides\ai-api-system-architecture\assets\icons\openai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8443" y="5167823"/>
            <a:ext cx="269931" cy="179954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6931152" y="515721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Provider</a:t>
            </a:r>
            <a:endParaRPr lang="en-US" sz="880" dirty="0"/>
          </a:p>
        </p:txBody>
      </p:sp>
      <p:sp>
        <p:nvSpPr>
          <p:cNvPr id="54" name="Text 45"/>
          <p:cNvSpPr/>
          <p:nvPr/>
        </p:nvSpPr>
        <p:spPr>
          <a:xfrm>
            <a:off x="6931152" y="533095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응답 생성</a:t>
            </a:r>
            <a:endParaRPr lang="en-US" sz="710" dirty="0"/>
          </a:p>
        </p:txBody>
      </p:sp>
      <p:sp>
        <p:nvSpPr>
          <p:cNvPr id="55" name="Shape 46"/>
          <p:cNvSpPr/>
          <p:nvPr/>
        </p:nvSpPr>
        <p:spPr>
          <a:xfrm>
            <a:off x="2029968" y="2670048"/>
            <a:ext cx="182880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6" name="Shape 47"/>
          <p:cNvSpPr/>
          <p:nvPr/>
        </p:nvSpPr>
        <p:spPr>
          <a:xfrm>
            <a:off x="3602736" y="2670048"/>
            <a:ext cx="182880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7" name="Shape 48"/>
          <p:cNvSpPr/>
          <p:nvPr/>
        </p:nvSpPr>
        <p:spPr>
          <a:xfrm>
            <a:off x="5175504" y="2670048"/>
            <a:ext cx="182880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8" name="Shape 49"/>
          <p:cNvSpPr/>
          <p:nvPr/>
        </p:nvSpPr>
        <p:spPr>
          <a:xfrm>
            <a:off x="2907792" y="3273552"/>
            <a:ext cx="0" cy="73152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59" name="Shape 50"/>
          <p:cNvSpPr/>
          <p:nvPr/>
        </p:nvSpPr>
        <p:spPr>
          <a:xfrm>
            <a:off x="2907792" y="4005072"/>
            <a:ext cx="3529584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0" name="Text 51"/>
          <p:cNvSpPr/>
          <p:nvPr/>
        </p:nvSpPr>
        <p:spPr>
          <a:xfrm>
            <a:off x="4434840" y="3712464"/>
            <a:ext cx="914400" cy="146304"/>
          </a:xfrm>
          <a:prstGeom prst="rect">
            <a:avLst/>
          </a:prstGeom>
          <a:solidFill>
            <a:srgbClr val="F7F9FC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endParaRPr lang="en-US" sz="800" dirty="0"/>
          </a:p>
        </p:txBody>
      </p:sp>
      <p:sp>
        <p:nvSpPr>
          <p:cNvPr id="61" name="Shape 52"/>
          <p:cNvSpPr/>
          <p:nvPr/>
        </p:nvSpPr>
        <p:spPr>
          <a:xfrm>
            <a:off x="4480560" y="3273552"/>
            <a:ext cx="0" cy="1408176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62" name="Shape 53"/>
          <p:cNvSpPr/>
          <p:nvPr/>
        </p:nvSpPr>
        <p:spPr>
          <a:xfrm>
            <a:off x="4480560" y="4681728"/>
            <a:ext cx="1956816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3" name="Text 54"/>
          <p:cNvSpPr/>
          <p:nvPr/>
        </p:nvSpPr>
        <p:spPr>
          <a:xfrm>
            <a:off x="5038344" y="4389120"/>
            <a:ext cx="914400" cy="146304"/>
          </a:xfrm>
          <a:prstGeom prst="rect">
            <a:avLst/>
          </a:prstGeom>
          <a:solidFill>
            <a:srgbClr val="F7F9FC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800" dirty="0"/>
          </a:p>
        </p:txBody>
      </p:sp>
      <p:sp>
        <p:nvSpPr>
          <p:cNvPr id="64" name="Shape 55"/>
          <p:cNvSpPr/>
          <p:nvPr/>
        </p:nvSpPr>
        <p:spPr>
          <a:xfrm>
            <a:off x="6053328" y="3273552"/>
            <a:ext cx="0" cy="2084832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65" name="Shape 56"/>
          <p:cNvSpPr/>
          <p:nvPr/>
        </p:nvSpPr>
        <p:spPr>
          <a:xfrm>
            <a:off x="6053328" y="5358384"/>
            <a:ext cx="384048" cy="0"/>
          </a:xfrm>
          <a:prstGeom prst="line">
            <a:avLst/>
          </a:prstGeom>
          <a:noFill/>
          <a:ln w="1206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6" name="Text 57"/>
          <p:cNvSpPr/>
          <p:nvPr/>
        </p:nvSpPr>
        <p:spPr>
          <a:xfrm>
            <a:off x="5605272" y="5065776"/>
            <a:ext cx="914400" cy="146304"/>
          </a:xfrm>
          <a:prstGeom prst="rect">
            <a:avLst/>
          </a:prstGeom>
          <a:solidFill>
            <a:srgbClr val="F7F9FC">
              <a:alpha val="9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호출</a:t>
            </a:r>
            <a:endParaRPr lang="en-US" sz="800" dirty="0"/>
          </a:p>
        </p:txBody>
      </p:sp>
      <p:sp>
        <p:nvSpPr>
          <p:cNvPr id="67" name="Text 58"/>
          <p:cNvSpPr/>
          <p:nvPr/>
        </p:nvSpPr>
        <p:spPr>
          <a:xfrm>
            <a:off x="914400" y="54132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흐름</a:t>
            </a:r>
            <a:endParaRPr lang="en-US" sz="1220" dirty="0"/>
          </a:p>
        </p:txBody>
      </p:sp>
      <p:sp>
        <p:nvSpPr>
          <p:cNvPr id="68" name="Text 59"/>
          <p:cNvSpPr/>
          <p:nvPr/>
        </p:nvSpPr>
        <p:spPr>
          <a:xfrm>
            <a:off x="914400" y="55961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Responsive Web -&gt; backend-api -&gt; ai-api -&gt; ai-api-fastapi</a:t>
            </a:r>
            <a:endParaRPr lang="en-US" sz="1040" dirty="0"/>
          </a:p>
        </p:txBody>
      </p:sp>
      <p:sp>
        <p:nvSpPr>
          <p:cNvPr id="69" name="Text 60"/>
          <p:cNvSpPr/>
          <p:nvPr/>
        </p:nvSpPr>
        <p:spPr>
          <a:xfrm>
            <a:off x="914400" y="5797296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backend-api는 ai-api-fastapi를 직접 호출하지 않고, ai-api가 내부 AI 진입점 역할을 맡습니다.</a:t>
            </a:r>
            <a:endParaRPr lang="en-US" sz="860" dirty="0"/>
          </a:p>
        </p:txBody>
      </p:sp>
      <p:sp>
        <p:nvSpPr>
          <p:cNvPr id="70" name="Text 61"/>
          <p:cNvSpPr/>
          <p:nvPr/>
        </p:nvSpPr>
        <p:spPr>
          <a:xfrm>
            <a:off x="8101584" y="1536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1: 사용자 요청]</a:t>
            </a:r>
            <a:endParaRPr lang="en-US" sz="1300" dirty="0"/>
          </a:p>
        </p:txBody>
      </p:sp>
      <p:sp>
        <p:nvSpPr>
          <p:cNvPr id="71" name="Text 62"/>
          <p:cNvSpPr/>
          <p:nvPr/>
        </p:nvSpPr>
        <p:spPr>
          <a:xfrm>
            <a:off x="8119872" y="183794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사용자는 브라우저에서 감정캠퍼스 반응형 웹 화면을 엽니다.</a:t>
            </a:r>
            <a:endParaRPr lang="en-US" sz="1050" dirty="0"/>
          </a:p>
        </p:txBody>
      </p:sp>
      <p:sp>
        <p:nvSpPr>
          <p:cNvPr id="72" name="Text 63"/>
          <p:cNvSpPr/>
          <p:nvPr/>
        </p:nvSpPr>
        <p:spPr>
          <a:xfrm>
            <a:off x="8119872" y="2167128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Next.js가 초기 화면을 렌더링하고, 로그인 상태 확인과 화면 데이터 조회는 backend-api REST API 호출로 이어집니다.</a:t>
            </a:r>
            <a:endParaRPr lang="en-US" sz="1050" dirty="0"/>
          </a:p>
        </p:txBody>
      </p:sp>
      <p:sp>
        <p:nvSpPr>
          <p:cNvPr id="73" name="Text 64"/>
          <p:cNvSpPr/>
          <p:nvPr/>
        </p:nvSpPr>
        <p:spPr>
          <a:xfrm>
            <a:off x="8101584" y="2615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2: 공개 API 처리]</a:t>
            </a:r>
            <a:endParaRPr lang="en-US" sz="1300" dirty="0"/>
          </a:p>
        </p:txBody>
      </p:sp>
      <p:sp>
        <p:nvSpPr>
          <p:cNvPr id="74" name="Text 65"/>
          <p:cNvSpPr/>
          <p:nvPr/>
        </p:nvSpPr>
        <p:spPr>
          <a:xfrm>
            <a:off x="8119872" y="2916936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backend-api는 인증/인가, 회원, 일기, 채팅 세션, 캘린더, 리포트 저장과 조회를 담당합니다.</a:t>
            </a:r>
            <a:endParaRPr lang="en-US" sz="1050" dirty="0"/>
          </a:p>
        </p:txBody>
      </p:sp>
      <p:sp>
        <p:nvSpPr>
          <p:cNvPr id="75" name="Text 66"/>
          <p:cNvSpPr/>
          <p:nvPr/>
        </p:nvSpPr>
        <p:spPr>
          <a:xfrm>
            <a:off x="8119872" y="324612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공개 API 진입점은 backend-api 하나이며, 웹은 ai-api나 ai-api-fastapi를 직접 호출하지 않습니다.</a:t>
            </a:r>
            <a:endParaRPr lang="en-US" sz="1050" dirty="0"/>
          </a:p>
        </p:txBody>
      </p:sp>
      <p:sp>
        <p:nvSpPr>
          <p:cNvPr id="76" name="Text 67"/>
          <p:cNvSpPr/>
          <p:nvPr/>
        </p:nvSpPr>
        <p:spPr>
          <a:xfrm>
            <a:off x="8101584" y="3694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3: 내부 AI 오케스트레이션]</a:t>
            </a:r>
            <a:endParaRPr lang="en-US" sz="1300" dirty="0"/>
          </a:p>
        </p:txBody>
      </p:sp>
      <p:sp>
        <p:nvSpPr>
          <p:cNvPr id="77" name="Text 68"/>
          <p:cNvSpPr/>
          <p:nvPr/>
        </p:nvSpPr>
        <p:spPr>
          <a:xfrm>
            <a:off x="8119872" y="3995928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ai-api는 프롬프트 작성, 메모리 조합, RAG 문맥 조회, safety 분기, fallback 결정을 담당합니다.</a:t>
            </a:r>
            <a:endParaRPr lang="en-US" sz="1050" dirty="0"/>
          </a:p>
        </p:txBody>
      </p:sp>
      <p:sp>
        <p:nvSpPr>
          <p:cNvPr id="78" name="Text 69"/>
          <p:cNvSpPr/>
          <p:nvPr/>
        </p:nvSpPr>
        <p:spPr>
          <a:xfrm>
            <a:off x="8119872" y="432511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감정분류가 필요한 diary/chat 흐름에서만 ai-api가 ai-api-fastapi를 내부 호출합니다.</a:t>
            </a:r>
            <a:endParaRPr lang="en-US" sz="1050" dirty="0"/>
          </a:p>
        </p:txBody>
      </p:sp>
      <p:sp>
        <p:nvSpPr>
          <p:cNvPr id="79" name="Text 70"/>
          <p:cNvSpPr/>
          <p:nvPr/>
        </p:nvSpPr>
        <p:spPr>
          <a:xfrm>
            <a:off x="8119872" y="465429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ai-api-fastapi는 감정분류 모델 서빙, 모델 버전 관리, threshold/calibration, inference metadata 반환을 맡습니다.</a:t>
            </a:r>
            <a:endParaRPr lang="en-US" sz="960" dirty="0"/>
          </a:p>
        </p:txBody>
      </p:sp>
      <p:sp>
        <p:nvSpPr>
          <p:cNvPr id="80" name="Text 71"/>
          <p:cNvSpPr/>
          <p:nvPr/>
        </p:nvSpPr>
        <p:spPr>
          <a:xfrm>
            <a:off x="8101584" y="5010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[Phase 4: 저장소와 최종 응답]</a:t>
            </a:r>
            <a:endParaRPr lang="en-US" sz="1300" dirty="0"/>
          </a:p>
        </p:txBody>
      </p:sp>
      <p:sp>
        <p:nvSpPr>
          <p:cNvPr id="81" name="Text 72"/>
          <p:cNvSpPr/>
          <p:nvPr/>
        </p:nvSpPr>
        <p:spPr>
          <a:xfrm>
            <a:off x="8119872" y="531266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backend-api는 공개 서비스 데이터를 PostgreSQL에 저장하고 조회합니다.</a:t>
            </a:r>
            <a:endParaRPr lang="en-US" sz="1050" dirty="0"/>
          </a:p>
        </p:txBody>
      </p:sp>
      <p:sp>
        <p:nvSpPr>
          <p:cNvPr id="82" name="Text 73"/>
          <p:cNvSpPr/>
          <p:nvPr/>
        </p:nvSpPr>
        <p:spPr>
          <a:xfrm>
            <a:off x="8119872" y="5641848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ai-api는 pgvector 검색 결과와 LLM 응답을 조합해 최종 분석/상담 응답을 만든 뒤 backend-api로 반환합니다.</a:t>
            </a:r>
            <a:endParaRPr lang="en-US" sz="1050" dirty="0"/>
          </a:p>
        </p:txBody>
      </p:sp>
      <p:sp>
        <p:nvSpPr>
          <p:cNvPr id="83" name="Text 74"/>
          <p:cNvSpPr/>
          <p:nvPr/>
        </p:nvSpPr>
        <p:spPr>
          <a:xfrm>
            <a:off x="8119872" y="597103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AI 호출 실패 시에도 fallback을 적용해 diary/chat 전체 흐름이 끊기지 않게 유지합니다.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Mind Compass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 Compass Web AI Architecture</dc:title>
  <dc:subject>Mind Compass web ai architecture</dc:subject>
  <dc:creator>OpenAI Codex</dc:creator>
  <cp:lastModifiedBy>OpenAI Codex</cp:lastModifiedBy>
  <cp:revision>1</cp:revision>
  <dcterms:created xsi:type="dcterms:W3CDTF">2026-03-28T13:36:24Z</dcterms:created>
  <dcterms:modified xsi:type="dcterms:W3CDTF">2026-03-28T13:36:24Z</dcterms:modified>
</cp:coreProperties>
</file>